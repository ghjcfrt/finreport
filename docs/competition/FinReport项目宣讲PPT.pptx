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FinReport 面向上市公司年报、半年报和季报。我们把财报分析拆成可追溯的研发流程：原始披露进入本地证据层，程序负责口径和计算，模型按问题取证并解释。当前是可运行原型与受限样本验证，不把有限实验包装成完整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份财报既有数字表格，也有会计政策、管理层讨论和跨页附注。数字若没有单位、期间、主体和合并范围就不能直接比较；累计数也不能直接当单季数。整本报告一次性给模型还会漏掉未送入窗口的材料，并把相关性写成没有来源的因果解释。我们的目标是把这些关系显式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用户先导入并隔离报告版本，再明确选择原生 PDF 文字和坐标提取或 Unlimited-OCR。两条路径都先生成候选，经过单位、期间、口径、表格勾稽和来源定位校验，再进入严格计算。候选、待校验和拒绝状态会保留，材料变化时校验失效。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桌面端负责选择和查看，FastAPI 负责任务，Python 领域层负责财务规则。PDF 文字坐标和 Unlimited-OCR 提供双路径提取，Docling 做结构预处理。SQLite 保存权威来源，Qdrant 按报告版本召回。模型只能通过注册工具访问数据，不能任意读取路径或改写计算。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个金额都带公司、版本、科目、单位、期间、合并范围和来源。同比环比先检查期间和分母，累计值按披露规则推导单季，零或负基数时拒绝误导性百分比。非经常性损益要保留税项、少数股东和跨页续表。利润与 CFO 背离可以量化，但现金流调节项不等于经营原因。试验中 CFO 由 14,178,310 增至 31,833,471 千元，程序算出增加 17,655,161、同比 124.5223%，但仍需附注解释原因。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模型不一次性总结全文，而是围绕每个子命题查询目录、文本块、事实或比较结果，缺少期间或附注时发出补件请求。每项结论带来源、公式和状态。找不到材料只说明当前证据边界，不把未命中写成未披露。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这套路线把计算和解释分开，把不确定性作为结果，把运行输入、响应和工具轨迹保存下来。核心差异不是换一个更大的模型，而是让模型在受控证据和程序结果上工作。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目前软件行为测试 810 项通过；固定配置下 Unlimited-OCR 在比亚迪 Q1 第 2、7 页分别对照 20 和 70 个金额单元格；四份 2025 报告的选页转换和版本过滤可运行；八项 H1 子命题留下 3 项待校验候选和 5 项证据不足；冻结响应离线回放两次哈希一致。这些结论只覆盖固定选页和冻结输入。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全文、多发行人、自动校验金标准、干净环境、外部模型复跑和部署韧性仍需验证。因此下一阶段按 WP0 到 WP10 补齐数据集、独立参考实现、误差分类账和演示包，而不是继续堆叠页面。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G0 冻结基线，G1 管理数据版本，G2 验证提取结构，G3 闭合金融计算，G4 覆盖专项与异常，G5 检查 Agent 证据，G6 验证校验和回放，G7 完成干净环境演示。每个 Gate 提交结果、日志、哈希和未通过项；阈值在金标准形成前登记。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评测分为提取、计算、证据、异常、复现和自动校验六类。评测包保存样例、哈希、报告 ID、页码、服务版本、模型请求响应、工具轨迹和回放命令。冻结输入的离线回放可以证明本地规则的确定性，但不等于外部模型重新调用必然产生相同文本。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FinReport 已经跑通从财报导入到证据检索和报告生成的研发闭环。当前最重要的交付不是一句模型摘要，而是可回查的事实、可复算的公式和可见的证据边界。后续按 Gate 完成全文、多发行人、测试金标准和演示复现，再据评测结果判断金融模块是否达到支持范围。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095DF58-D582-4963-9D7C-0BF20D8C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7F115CF-3A98-469B-81F2-48F393865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46C65FC-774C-4B84-B535-CC6BB30F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937AF49-0D22-4559-91E6-80DDC33FF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3D081FD-2FC8-4110-BFD5-39EEB26E4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0066B8A-F769-4FA6-AF7E-A5E100B8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3E07A9D-D5A1-450C-8282-6D575C0BF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B43AD6E-6BB2-463D-967A-3B28EEFD40E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81370AE-B461-4EE0-933C-EF3327721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58DC0E3-DCA8-408E-AE2F-08CAB292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C226629-7D03-4F7A-9216-65812673917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14300" cy="1809750"/>
          </a:xfrm>
          <a:prstGeom prst="rect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354679-40FA-49F4-B770-46D942DD51CA}"/>
              </a:ext>
            </a:extLst>
          </p:cNvPr>
          <p:cNvSpPr>
            <a:spLocks noGrp="1"/>
          </p:cNvSpPr>
          <p:nvPr/>
        </p:nvSpPr>
        <p:spPr>
          <a:xfrm>
            <a:off x="1066800" y="762000"/>
            <a:ext cx="923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FFFFFF"/>
                </a:solidFill>
              </a:defRPr>
            </a:defPPr>
            <a:lvl1pPr>
              <a:defRPr sz="3150" b="1">
                <a:solidFill>
                  <a:srgbClr val="FFFFFF"/>
                </a:solidFill>
              </a:defRPr>
            </a:lvl1pPr>
            <a:lvl2pPr>
              <a:defRPr sz="3150" b="1">
                <a:solidFill>
                  <a:srgbClr val="FFFFFF"/>
                </a:solidFill>
              </a:defRPr>
            </a:lvl2pPr>
            <a:lvl3pPr>
              <a:defRPr sz="3150" b="1">
                <a:solidFill>
                  <a:srgbClr val="FFFFFF"/>
                </a:solidFill>
              </a:defRPr>
            </a:lvl3pPr>
            <a:lvl4pPr>
              <a:defRPr sz="3150" b="1">
                <a:solidFill>
                  <a:srgbClr val="FFFFFF"/>
                </a:solidFill>
              </a:defRPr>
            </a:lvl4pPr>
            <a:lvl5pPr>
              <a:defRPr sz="3150" b="1">
                <a:solidFill>
                  <a:srgbClr val="FFFFFF"/>
                </a:solidFill>
              </a:defRPr>
            </a:lvl5pPr>
            <a:lvl6pPr>
              <a:defRPr sz="3150" b="1">
                <a:solidFill>
                  <a:srgbClr val="FFFFFF"/>
                </a:solidFill>
              </a:defRPr>
            </a:lvl6pPr>
            <a:lvl7pPr>
              <a:defRPr sz="3150" b="1">
                <a:solidFill>
                  <a:srgbClr val="FFFFFF"/>
                </a:solidFill>
              </a:defRPr>
            </a:lvl7pPr>
            <a:lvl8pPr>
              <a:defRPr sz="3150" b="1">
                <a:solidFill>
                  <a:srgbClr val="FFFFFF"/>
                </a:solidFill>
              </a:defRPr>
            </a:lvl8pPr>
            <a:lvl9pPr>
              <a:defRPr sz="3150" b="1">
                <a:solidFill>
                  <a:srgbClr val="FFFFFF"/>
                </a:solidFill>
              </a:defRPr>
            </a:lvl9pPr>
          </a:lstStyle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FinReport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8AF1BD-EE4B-4936-9FFB-6ABE342E7473}"/>
              </a:ext>
            </a:extLst>
          </p:cNvPr>
          <p:cNvSpPr>
            <a:spLocks noGrp="1"/>
          </p:cNvSpPr>
          <p:nvPr/>
        </p:nvSpPr>
        <p:spPr>
          <a:xfrm>
            <a:off x="1066800" y="1371600"/>
            <a:ext cx="9334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FFFFFF"/>
                </a:solidFill>
              </a:defRPr>
            </a:defPPr>
            <a:lvl1pPr>
              <a:defRPr sz="2550" b="1">
                <a:solidFill>
                  <a:srgbClr val="FFFFFF"/>
                </a:solidFill>
              </a:defRPr>
            </a:lvl1pPr>
            <a:lvl2pPr>
              <a:defRPr sz="2550" b="1">
                <a:solidFill>
                  <a:srgbClr val="FFFFFF"/>
                </a:solidFill>
              </a:defRPr>
            </a:lvl2pPr>
            <a:lvl3pPr>
              <a:defRPr sz="2550" b="1">
                <a:solidFill>
                  <a:srgbClr val="FFFFFF"/>
                </a:solidFill>
              </a:defRPr>
            </a:lvl3pPr>
            <a:lvl4pPr>
              <a:defRPr sz="2550" b="1">
                <a:solidFill>
                  <a:srgbClr val="FFFFFF"/>
                </a:solidFill>
              </a:defRPr>
            </a:lvl4pPr>
            <a:lvl5pPr>
              <a:defRPr sz="2550" b="1">
                <a:solidFill>
                  <a:srgbClr val="FFFFFF"/>
                </a:solidFill>
              </a:defRPr>
            </a:lvl5pPr>
            <a:lvl6pPr>
              <a:defRPr sz="2550" b="1">
                <a:solidFill>
                  <a:srgbClr val="FFFFFF"/>
                </a:solidFill>
              </a:defRPr>
            </a:lvl6pPr>
            <a:lvl7pPr>
              <a:defRPr sz="2550" b="1">
                <a:solidFill>
                  <a:srgbClr val="FFFFFF"/>
                </a:solidFill>
              </a:defRPr>
            </a:lvl7pPr>
            <a:lvl8pPr>
              <a:defRPr sz="2550" b="1">
                <a:solidFill>
                  <a:srgbClr val="FFFFFF"/>
                </a:solidFill>
              </a:defRPr>
            </a:lvl8pPr>
            <a:lvl9pPr>
              <a:defRPr sz="2550" b="1">
                <a:solidFill>
                  <a:srgbClr val="FFFFFF"/>
                </a:solidFill>
              </a:defRPr>
            </a:lvl9pPr>
          </a:lstStyle>
          <a:p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上市公司财务报告分析研发项目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0BF3B6-7C06-4C7D-9AA9-A2EEE5031F58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>
                <a:solidFill>
                  <a:srgbClr val="C9D8E2"/>
                </a:solidFill>
              </a:defRPr>
            </a:defPPr>
            <a:lvl1pPr>
              <a:defRPr sz="1575">
                <a:solidFill>
                  <a:srgbClr val="C9D8E2"/>
                </a:solidFill>
              </a:defRPr>
            </a:lvl1pPr>
            <a:lvl2pPr>
              <a:defRPr sz="1575">
                <a:solidFill>
                  <a:srgbClr val="C9D8E2"/>
                </a:solidFill>
              </a:defRPr>
            </a:lvl2pPr>
            <a:lvl3pPr>
              <a:defRPr sz="1575">
                <a:solidFill>
                  <a:srgbClr val="C9D8E2"/>
                </a:solidFill>
              </a:defRPr>
            </a:lvl3pPr>
            <a:lvl4pPr>
              <a:defRPr sz="1575">
                <a:solidFill>
                  <a:srgbClr val="C9D8E2"/>
                </a:solidFill>
              </a:defRPr>
            </a:lvl4pPr>
            <a:lvl5pPr>
              <a:defRPr sz="1575">
                <a:solidFill>
                  <a:srgbClr val="C9D8E2"/>
                </a:solidFill>
              </a:defRPr>
            </a:lvl5pPr>
            <a:lvl6pPr>
              <a:defRPr sz="1575">
                <a:solidFill>
                  <a:srgbClr val="C9D8E2"/>
                </a:solidFill>
              </a:defRPr>
            </a:lvl6pPr>
            <a:lvl7pPr>
              <a:defRPr sz="1575">
                <a:solidFill>
                  <a:srgbClr val="C9D8E2"/>
                </a:solidFill>
              </a:defRPr>
            </a:lvl7pPr>
            <a:lvl8pPr>
              <a:defRPr sz="1575">
                <a:solidFill>
                  <a:srgbClr val="C9D8E2"/>
                </a:solidFill>
              </a:defRPr>
            </a:lvl8pPr>
            <a:lvl9pPr>
              <a:defRPr sz="1575">
                <a:solidFill>
                  <a:srgbClr val="C9D8E2"/>
                </a:solidFill>
              </a:defRPr>
            </a:lvl9pPr>
          </a:lstStyle>
          <a:p>
            <a:pPr>
              <a:defRPr sz="1575">
                <a:solidFill>
                  <a:srgbClr val="C9D8E2"/>
                </a:solidFill>
              </a:defRPr>
            </a:pPr>
            <a:r>
              <a:rPr sz="1575">
                <a:solidFill>
                  <a:srgbClr val="C9D8E2"/>
                </a:solidFill>
              </a:rPr>
              <a:t>从原始披露到可复核结论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82AE7B-04CF-4002-AC14-1172E11C20B2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2571750" cy="304800"/>
          </a:xfrm>
          <a:prstGeom prst="roundRect">
            <a:avLst>
              <a:gd name="adj" fmla="val 25000"/>
            </a:avLst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8FDF82-445A-424D-B2A9-22918881BC17}"/>
              </a:ext>
            </a:extLst>
          </p:cNvPr>
          <p:cNvSpPr>
            <a:spLocks noGrp="1"/>
          </p:cNvSpPr>
          <p:nvPr/>
        </p:nvSpPr>
        <p:spPr>
          <a:xfrm>
            <a:off x="1162050" y="3209925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可运行原型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BA5357D-7C5B-4C91-9661-52E3AE90073C}"/>
              </a:ext>
            </a:extLst>
          </p:cNvPr>
          <p:cNvSpPr>
            <a:spLocks noGrp="1"/>
          </p:cNvSpPr>
          <p:nvPr/>
        </p:nvSpPr>
        <p:spPr>
          <a:xfrm>
            <a:off x="3810000" y="3143250"/>
            <a:ext cx="2952750" cy="304800"/>
          </a:xfrm>
          <a:prstGeom prst="roundRect">
            <a:avLst>
              <a:gd name="adj" fmla="val 25000"/>
            </a:avLst>
          </a:prstGeom>
          <a:solidFill>
            <a:srgbClr val="2344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D65964-5C83-443B-8EDF-6F583A1F93C5}"/>
              </a:ext>
            </a:extLst>
          </p:cNvPr>
          <p:cNvSpPr>
            <a:spLocks noGrp="1"/>
          </p:cNvSpPr>
          <p:nvPr/>
        </p:nvSpPr>
        <p:spPr>
          <a:xfrm>
            <a:off x="3905250" y="3209925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D7E5EC"/>
                </a:solidFill>
              </a:defRPr>
            </a:defPPr>
            <a:lvl1pPr>
              <a:defRPr sz="975" b="1">
                <a:solidFill>
                  <a:srgbClr val="D7E5EC"/>
                </a:solidFill>
              </a:defRPr>
            </a:lvl1pPr>
            <a:lvl2pPr>
              <a:defRPr sz="975" b="1">
                <a:solidFill>
                  <a:srgbClr val="D7E5EC"/>
                </a:solidFill>
              </a:defRPr>
            </a:lvl2pPr>
            <a:lvl3pPr>
              <a:defRPr sz="975" b="1">
                <a:solidFill>
                  <a:srgbClr val="D7E5EC"/>
                </a:solidFill>
              </a:defRPr>
            </a:lvl3pPr>
            <a:lvl4pPr>
              <a:defRPr sz="975" b="1">
                <a:solidFill>
                  <a:srgbClr val="D7E5EC"/>
                </a:solidFill>
              </a:defRPr>
            </a:lvl4pPr>
            <a:lvl5pPr>
              <a:defRPr sz="975" b="1">
                <a:solidFill>
                  <a:srgbClr val="D7E5EC"/>
                </a:solidFill>
              </a:defRPr>
            </a:lvl5pPr>
            <a:lvl6pPr>
              <a:defRPr sz="975" b="1">
                <a:solidFill>
                  <a:srgbClr val="D7E5EC"/>
                </a:solidFill>
              </a:defRPr>
            </a:lvl6pPr>
            <a:lvl7pPr>
              <a:defRPr sz="975" b="1">
                <a:solidFill>
                  <a:srgbClr val="D7E5EC"/>
                </a:solidFill>
              </a:defRPr>
            </a:lvl7pPr>
            <a:lvl8pPr>
              <a:defRPr sz="975" b="1">
                <a:solidFill>
                  <a:srgbClr val="D7E5EC"/>
                </a:solidFill>
              </a:defRPr>
            </a:lvl8pPr>
            <a:lvl9pPr>
              <a:defRPr sz="975" b="1">
                <a:solidFill>
                  <a:srgbClr val="D7E5EC"/>
                </a:solidFill>
              </a:defRPr>
            </a:lvl9pPr>
          </a:lstStyle>
          <a:p>
            <a:pPr>
              <a:defRPr sz="975" b="1">
                <a:solidFill>
                  <a:srgbClr val="D7E5EC"/>
                </a:solidFill>
              </a:defRPr>
            </a:pPr>
            <a:r>
              <a:rPr sz="975" b="1">
                <a:solidFill>
                  <a:srgbClr val="D7E5EC"/>
                </a:solidFill>
              </a:rPr>
              <a:t>受限样本验证阶段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BDE486-46CB-458D-8E4F-87AC2686F82F}"/>
              </a:ext>
            </a:extLst>
          </p:cNvPr>
          <p:cNvSpPr>
            <a:spLocks noGrp="1"/>
          </p:cNvSpPr>
          <p:nvPr/>
        </p:nvSpPr>
        <p:spPr>
          <a:xfrm>
            <a:off x="1066800" y="394335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C9D8E2"/>
                </a:solidFill>
              </a:defRPr>
            </a:defPPr>
            <a:lvl1pPr>
              <a:defRPr sz="1350">
                <a:solidFill>
                  <a:srgbClr val="C9D8E2"/>
                </a:solidFill>
              </a:defRPr>
            </a:lvl1pPr>
            <a:lvl2pPr>
              <a:defRPr sz="1350">
                <a:solidFill>
                  <a:srgbClr val="C9D8E2"/>
                </a:solidFill>
              </a:defRPr>
            </a:lvl2pPr>
            <a:lvl3pPr>
              <a:defRPr sz="1350">
                <a:solidFill>
                  <a:srgbClr val="C9D8E2"/>
                </a:solidFill>
              </a:defRPr>
            </a:lvl3pPr>
            <a:lvl4pPr>
              <a:defRPr sz="1350">
                <a:solidFill>
                  <a:srgbClr val="C9D8E2"/>
                </a:solidFill>
              </a:defRPr>
            </a:lvl4pPr>
            <a:lvl5pPr>
              <a:defRPr sz="1350">
                <a:solidFill>
                  <a:srgbClr val="C9D8E2"/>
                </a:solidFill>
              </a:defRPr>
            </a:lvl5pPr>
            <a:lvl6pPr>
              <a:defRPr sz="1350">
                <a:solidFill>
                  <a:srgbClr val="C9D8E2"/>
                </a:solidFill>
              </a:defRPr>
            </a:lvl6pPr>
            <a:lvl7pPr>
              <a:defRPr sz="1350">
                <a:solidFill>
                  <a:srgbClr val="C9D8E2"/>
                </a:solidFill>
              </a:defRPr>
            </a:lvl7pPr>
            <a:lvl8pPr>
              <a:defRPr sz="1350">
                <a:solidFill>
                  <a:srgbClr val="C9D8E2"/>
                </a:solidFill>
              </a:defRPr>
            </a:lvl8pPr>
            <a:lvl9pPr>
              <a:defRPr sz="1350">
                <a:solidFill>
                  <a:srgbClr val="C9D8E2"/>
                </a:solidFill>
              </a:defRPr>
            </a:lvl9pPr>
          </a:lstStyle>
          <a:p>
            <a:pPr>
              <a:defRPr sz="1350">
                <a:solidFill>
                  <a:srgbClr val="C9D8E2"/>
                </a:solidFill>
              </a:defRPr>
            </a:pPr>
            <a:r>
              <a:rPr sz="1350">
                <a:solidFill>
                  <a:srgbClr val="C9D8E2"/>
                </a:solidFill>
              </a:rPr>
              <a:t>2026 年北京市大学生金融人工智能竞赛</a:t>
            </a:r>
          </a:p>
          <a:p>
            <a:pPr>
              <a:defRPr sz="1350">
                <a:solidFill>
                  <a:srgbClr val="C9D8E2"/>
                </a:solidFill>
              </a:defRPr>
            </a:pPr>
            <a:r>
              <a:rPr sz="1350">
                <a:solidFill>
                  <a:srgbClr val="C9D8E2"/>
                </a:solidFill>
              </a:rPr>
              <a:t>上市公司财务报告分析方向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849E53-45A7-4695-8924-C3FBB4654C47}"/>
              </a:ext>
            </a:extLst>
          </p:cNvPr>
          <p:cNvSpPr>
            <a:spLocks noGrp="1"/>
          </p:cNvSpPr>
          <p:nvPr/>
        </p:nvSpPr>
        <p:spPr>
          <a:xfrm>
            <a:off x="1066800" y="565785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9DE0DE"/>
                </a:solidFill>
              </a:defRPr>
            </a:defPPr>
            <a:lvl1pPr>
              <a:defRPr sz="1275" b="1">
                <a:solidFill>
                  <a:srgbClr val="9DE0DE"/>
                </a:solidFill>
              </a:defRPr>
            </a:lvl1pPr>
            <a:lvl2pPr>
              <a:defRPr sz="1275" b="1">
                <a:solidFill>
                  <a:srgbClr val="9DE0DE"/>
                </a:solidFill>
              </a:defRPr>
            </a:lvl2pPr>
            <a:lvl3pPr>
              <a:defRPr sz="1275" b="1">
                <a:solidFill>
                  <a:srgbClr val="9DE0DE"/>
                </a:solidFill>
              </a:defRPr>
            </a:lvl3pPr>
            <a:lvl4pPr>
              <a:defRPr sz="1275" b="1">
                <a:solidFill>
                  <a:srgbClr val="9DE0DE"/>
                </a:solidFill>
              </a:defRPr>
            </a:lvl4pPr>
            <a:lvl5pPr>
              <a:defRPr sz="1275" b="1">
                <a:solidFill>
                  <a:srgbClr val="9DE0DE"/>
                </a:solidFill>
              </a:defRPr>
            </a:lvl5pPr>
            <a:lvl6pPr>
              <a:defRPr sz="1275" b="1">
                <a:solidFill>
                  <a:srgbClr val="9DE0DE"/>
                </a:solidFill>
              </a:defRPr>
            </a:lvl6pPr>
            <a:lvl7pPr>
              <a:defRPr sz="1275" b="1">
                <a:solidFill>
                  <a:srgbClr val="9DE0DE"/>
                </a:solidFill>
              </a:defRPr>
            </a:lvl7pPr>
            <a:lvl8pPr>
              <a:defRPr sz="1275" b="1">
                <a:solidFill>
                  <a:srgbClr val="9DE0DE"/>
                </a:solidFill>
              </a:defRPr>
            </a:lvl8pPr>
            <a:lvl9pPr>
              <a:defRPr sz="1275" b="1">
                <a:solidFill>
                  <a:srgbClr val="9DE0DE"/>
                </a:solidFill>
              </a:defRPr>
            </a:lvl9pPr>
          </a:lstStyle>
          <a:p>
            <a:pPr>
              <a:defRPr sz="1275" b="1">
                <a:solidFill>
                  <a:srgbClr val="9DE0DE"/>
                </a:solidFill>
              </a:defRPr>
            </a:pPr>
            <a:r>
              <a:rPr sz="1275" b="1">
                <a:solidFill>
                  <a:srgbClr val="9DE0DE"/>
                </a:solidFill>
              </a:rPr>
              <a:t>计算由程序执行，证据可回查，不确定性可见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ABC284-910D-4A73-AFE9-BC24C9EFAC5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B7C9D6"/>
                </a:solidFill>
              </a:defRPr>
            </a:defPPr>
            <a:lvl1pPr>
              <a:defRPr sz="825">
                <a:solidFill>
                  <a:srgbClr val="B7C9D6"/>
                </a:solidFill>
              </a:defRPr>
            </a:lvl1pPr>
            <a:lvl2pPr>
              <a:defRPr sz="825">
                <a:solidFill>
                  <a:srgbClr val="B7C9D6"/>
                </a:solidFill>
              </a:defRPr>
            </a:lvl2pPr>
            <a:lvl3pPr>
              <a:defRPr sz="825">
                <a:solidFill>
                  <a:srgbClr val="B7C9D6"/>
                </a:solidFill>
              </a:defRPr>
            </a:lvl3pPr>
            <a:lvl4pPr>
              <a:defRPr sz="825">
                <a:solidFill>
                  <a:srgbClr val="B7C9D6"/>
                </a:solidFill>
              </a:defRPr>
            </a:lvl4pPr>
            <a:lvl5pPr>
              <a:defRPr sz="825">
                <a:solidFill>
                  <a:srgbClr val="B7C9D6"/>
                </a:solidFill>
              </a:defRPr>
            </a:lvl5pPr>
            <a:lvl6pPr>
              <a:defRPr sz="825">
                <a:solidFill>
                  <a:srgbClr val="B7C9D6"/>
                </a:solidFill>
              </a:defRPr>
            </a:lvl6pPr>
            <a:lvl7pPr>
              <a:defRPr sz="825">
                <a:solidFill>
                  <a:srgbClr val="B7C9D6"/>
                </a:solidFill>
              </a:defRPr>
            </a:lvl7pPr>
            <a:lvl8pPr>
              <a:defRPr sz="825">
                <a:solidFill>
                  <a:srgbClr val="B7C9D6"/>
                </a:solidFill>
              </a:defRPr>
            </a:lvl8pPr>
            <a:lvl9pPr>
              <a:defRPr sz="825">
                <a:solidFill>
                  <a:srgbClr val="B7C9D6"/>
                </a:solidFill>
              </a:defRPr>
            </a:lvl9pPr>
          </a:lstStyle>
          <a:p>
            <a:pPr>
              <a:defRPr sz="825">
                <a:solidFill>
                  <a:srgbClr val="B7C9D6"/>
                </a:solidFill>
              </a:defRPr>
            </a:pPr>
            <a:r>
              <a:rPr sz="825">
                <a:solidFill>
                  <a:srgbClr val="B7C9D6"/>
                </a:solidFill>
              </a:rPr>
              <a:t>FinReport  |  研发项目计划书  |  2026-10-18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004E93-EC39-4703-984A-F42EB1BAAE85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B7C9D6"/>
                </a:solidFill>
              </a:defRPr>
            </a:defPPr>
            <a:lvl1pPr>
              <a:defRPr sz="825">
                <a:solidFill>
                  <a:srgbClr val="B7C9D6"/>
                </a:solidFill>
              </a:defRPr>
            </a:lvl1pPr>
            <a:lvl2pPr>
              <a:defRPr sz="825">
                <a:solidFill>
                  <a:srgbClr val="B7C9D6"/>
                </a:solidFill>
              </a:defRPr>
            </a:lvl2pPr>
            <a:lvl3pPr>
              <a:defRPr sz="825">
                <a:solidFill>
                  <a:srgbClr val="B7C9D6"/>
                </a:solidFill>
              </a:defRPr>
            </a:lvl3pPr>
            <a:lvl4pPr>
              <a:defRPr sz="825">
                <a:solidFill>
                  <a:srgbClr val="B7C9D6"/>
                </a:solidFill>
              </a:defRPr>
            </a:lvl4pPr>
            <a:lvl5pPr>
              <a:defRPr sz="825">
                <a:solidFill>
                  <a:srgbClr val="B7C9D6"/>
                </a:solidFill>
              </a:defRPr>
            </a:lvl5pPr>
            <a:lvl6pPr>
              <a:defRPr sz="825">
                <a:solidFill>
                  <a:srgbClr val="B7C9D6"/>
                </a:solidFill>
              </a:defRPr>
            </a:lvl6pPr>
            <a:lvl7pPr>
              <a:defRPr sz="825">
                <a:solidFill>
                  <a:srgbClr val="B7C9D6"/>
                </a:solidFill>
              </a:defRPr>
            </a:lvl7pPr>
            <a:lvl8pPr>
              <a:defRPr sz="825">
                <a:solidFill>
                  <a:srgbClr val="B7C9D6"/>
                </a:solidFill>
              </a:defRPr>
            </a:lvl8pPr>
            <a:lvl9pPr>
              <a:defRPr sz="825">
                <a:solidFill>
                  <a:srgbClr val="B7C9D6"/>
                </a:solidFill>
              </a:defRPr>
            </a:lvl9pPr>
          </a:lstStyle>
          <a:p>
            <a:pPr>
              <a:defRPr sz="825">
                <a:solidFill>
                  <a:srgbClr val="B7C9D6"/>
                </a:solidFill>
              </a:defRPr>
            </a:pPr>
            <a:r>
              <a:rPr sz="825">
                <a:solidFill>
                  <a:srgbClr val="B7C9D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940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9085B073-A68E-43BB-B4EA-5A92887A08B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01  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5994F0-4246-474D-B364-27C998B521E9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财报分析的难点来自材料关系，而不只是数字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397579-7A05-4FD5-923B-94C46099168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长报告、复杂口径和证据边界同时影响结论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E88CBE4-FBBF-4013-B641-76D740EA174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6AACCB-3B16-455C-890C-CC5CC88425C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66675" cy="1619250"/>
          </a:xfrm>
          <a:prstGeom prst="rect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046877-2BBC-49CA-ACAC-15719E5B33C8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2800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材料异构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5A898A-4DC9-4EC6-841C-CB569083E7B6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28003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报表、管理层讨论、会计政策和跨页附注同时存在，单纯抽取数字会丢失上下文。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0544171-104B-4E68-9BD8-5BE38C0A4B8D}"/>
              </a:ext>
            </a:extLst>
          </p:cNvPr>
          <p:cNvSpPr>
            <a:spLocks noGrp="1"/>
          </p:cNvSpPr>
          <p:nvPr/>
        </p:nvSpPr>
        <p:spPr>
          <a:xfrm>
            <a:off x="4048125" y="180975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8F5E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BA98AF-283A-43A1-9877-5A1FE40E28BA}"/>
              </a:ext>
            </a:extLst>
          </p:cNvPr>
          <p:cNvSpPr>
            <a:spLocks noGrp="1"/>
          </p:cNvSpPr>
          <p:nvPr/>
        </p:nvSpPr>
        <p:spPr>
          <a:xfrm>
            <a:off x="4048125" y="1809750"/>
            <a:ext cx="66675" cy="16192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B21080-7122-495E-8B45-87F9E8EDC1F0}"/>
              </a:ext>
            </a:extLst>
          </p:cNvPr>
          <p:cNvSpPr>
            <a:spLocks noGrp="1"/>
          </p:cNvSpPr>
          <p:nvPr/>
        </p:nvSpPr>
        <p:spPr>
          <a:xfrm>
            <a:off x="4238625" y="1962150"/>
            <a:ext cx="2800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期间与口径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E1C80C-6522-4F81-A389-B02573EE8F58}"/>
              </a:ext>
            </a:extLst>
          </p:cNvPr>
          <p:cNvSpPr>
            <a:spLocks noGrp="1"/>
          </p:cNvSpPr>
          <p:nvPr/>
        </p:nvSpPr>
        <p:spPr>
          <a:xfrm>
            <a:off x="4238625" y="2286000"/>
            <a:ext cx="28003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同比、环比依赖报告期间、累计或单季、主体、合并范围和重述关系。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566B8F4-1C5F-4A4A-A0A3-51CA5F8DB6D6}"/>
              </a:ext>
            </a:extLst>
          </p:cNvPr>
          <p:cNvSpPr>
            <a:spLocks noGrp="1"/>
          </p:cNvSpPr>
          <p:nvPr/>
        </p:nvSpPr>
        <p:spPr>
          <a:xfrm>
            <a:off x="7486650" y="1809750"/>
            <a:ext cx="3143250" cy="1619250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F55869-4E00-4DF5-8245-8442E9053C52}"/>
              </a:ext>
            </a:extLst>
          </p:cNvPr>
          <p:cNvSpPr>
            <a:spLocks noGrp="1"/>
          </p:cNvSpPr>
          <p:nvPr/>
        </p:nvSpPr>
        <p:spPr>
          <a:xfrm>
            <a:off x="7486650" y="1809750"/>
            <a:ext cx="66675" cy="1619250"/>
          </a:xfrm>
          <a:prstGeom prst="rect">
            <a:avLst/>
          </a:prstGeom>
          <a:solidFill>
            <a:srgbClr val="18794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A90DB3-FB18-49DA-8DF5-59E4FE00C75D}"/>
              </a:ext>
            </a:extLst>
          </p:cNvPr>
          <p:cNvSpPr>
            <a:spLocks noGrp="1"/>
          </p:cNvSpPr>
          <p:nvPr/>
        </p:nvSpPr>
        <p:spPr>
          <a:xfrm>
            <a:off x="7677150" y="1962150"/>
            <a:ext cx="2800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异常与因果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3AAA51B-C80C-412E-A89A-16A3DC6A7033}"/>
              </a:ext>
            </a:extLst>
          </p:cNvPr>
          <p:cNvSpPr>
            <a:spLocks noGrp="1"/>
          </p:cNvSpPr>
          <p:nvPr/>
        </p:nvSpPr>
        <p:spPr>
          <a:xfrm>
            <a:off x="7677150" y="2286000"/>
            <a:ext cx="28003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利润与现金流可以量化背离，但调节项目本身不能证明经营原因。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45CCDBA-DEC5-4812-8BA4-76311AD21DDE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0020300" cy="1352550"/>
          </a:xfrm>
          <a:prstGeom prst="roundRect">
            <a:avLst>
              <a:gd name="adj" fmla="val 5634"/>
            </a:avLst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E98A1C9-4E41-4856-8797-9723E7FC98BB}"/>
              </a:ext>
            </a:extLst>
          </p:cNvPr>
          <p:cNvSpPr>
            <a:spLocks noGrp="1"/>
          </p:cNvSpPr>
          <p:nvPr/>
        </p:nvSpPr>
        <p:spPr>
          <a:xfrm>
            <a:off x="876300" y="4229100"/>
            <a:ext cx="942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9DE0DE"/>
                </a:solidFill>
              </a:defRPr>
            </a:defPPr>
            <a:lvl1pPr>
              <a:defRPr sz="1200" b="1">
                <a:solidFill>
                  <a:srgbClr val="9DE0DE"/>
                </a:solidFill>
              </a:defRPr>
            </a:lvl1pPr>
            <a:lvl2pPr>
              <a:defRPr sz="1200" b="1">
                <a:solidFill>
                  <a:srgbClr val="9DE0DE"/>
                </a:solidFill>
              </a:defRPr>
            </a:lvl2pPr>
            <a:lvl3pPr>
              <a:defRPr sz="1200" b="1">
                <a:solidFill>
                  <a:srgbClr val="9DE0DE"/>
                </a:solidFill>
              </a:defRPr>
            </a:lvl3pPr>
            <a:lvl4pPr>
              <a:defRPr sz="1200" b="1">
                <a:solidFill>
                  <a:srgbClr val="9DE0DE"/>
                </a:solidFill>
              </a:defRPr>
            </a:lvl4pPr>
            <a:lvl5pPr>
              <a:defRPr sz="1200" b="1">
                <a:solidFill>
                  <a:srgbClr val="9DE0DE"/>
                </a:solidFill>
              </a:defRPr>
            </a:lvl5pPr>
            <a:lvl6pPr>
              <a:defRPr sz="1200" b="1">
                <a:solidFill>
                  <a:srgbClr val="9DE0DE"/>
                </a:solidFill>
              </a:defRPr>
            </a:lvl6pPr>
            <a:lvl7pPr>
              <a:defRPr sz="1200" b="1">
                <a:solidFill>
                  <a:srgbClr val="9DE0DE"/>
                </a:solidFill>
              </a:defRPr>
            </a:lvl7pPr>
            <a:lvl8pPr>
              <a:defRPr sz="1200" b="1">
                <a:solidFill>
                  <a:srgbClr val="9DE0DE"/>
                </a:solidFill>
              </a:defRPr>
            </a:lvl8pPr>
            <a:lvl9pPr>
              <a:defRPr sz="1200" b="1">
                <a:solidFill>
                  <a:srgbClr val="9DE0DE"/>
                </a:solidFill>
              </a:defRPr>
            </a:lvl9pPr>
          </a:lstStyle>
          <a:p>
            <a:pPr>
              <a:defRPr sz="1200" b="1">
                <a:solidFill>
                  <a:srgbClr val="9DE0DE"/>
                </a:solidFill>
              </a:defRPr>
            </a:pPr>
            <a:r>
              <a:rPr sz="1200" b="1">
                <a:solidFill>
                  <a:srgbClr val="9DE0DE"/>
                </a:solidFill>
              </a:rPr>
              <a:t>研发目标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57E709-2B74-4A4E-851C-0DAA6AC46365}"/>
              </a:ext>
            </a:extLst>
          </p:cNvPr>
          <p:cNvSpPr>
            <a:spLocks noGrp="1"/>
          </p:cNvSpPr>
          <p:nvPr/>
        </p:nvSpPr>
        <p:spPr>
          <a:xfrm>
            <a:off x="876300" y="4552950"/>
            <a:ext cx="923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把原始披露、候选事实、程序计算、证据检索和模型解释连成一条可复核链路。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D3F2A3-CC88-4937-92B5-F7ADF7203CA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3376B0-3017-4E95-9DD6-6E8F54828772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891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8C1876C9-7132-48CE-A989-D6344A43D97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02  路线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2A70E-58B9-4273-BD73-EBD8DBB40A1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先保留候选，再让自动校验决定是否进入计算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C19B2C-0615-431B-AA3F-203E11A36B2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两条提取路径由用户选择，失败不会静默切换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6BBDF9-D15E-42F6-9CE6-285E4554FFDA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C4B0DC-FDBA-4F37-A0C3-B51FE8B212F4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导入隔离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0CD379-8720-4AF7-B542-1782EE015013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版本 / 哈希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0719C6A-35F3-4C6C-B9AF-5CB28D67883B}"/>
              </a:ext>
            </a:extLst>
          </p:cNvPr>
          <p:cNvSpPr>
            <a:spLocks noGrp="1"/>
          </p:cNvSpPr>
          <p:nvPr/>
        </p:nvSpPr>
        <p:spPr>
          <a:xfrm>
            <a:off x="2943225" y="2190750"/>
            <a:ext cx="266700" cy="171450"/>
          </a:xfrm>
          <a:prstGeom prst="rightArrow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467CC7F-3858-45C5-A36C-29C57AB3A1C0}"/>
              </a:ext>
            </a:extLst>
          </p:cNvPr>
          <p:cNvSpPr>
            <a:spLocks noGrp="1"/>
          </p:cNvSpPr>
          <p:nvPr/>
        </p:nvSpPr>
        <p:spPr>
          <a:xfrm>
            <a:off x="3105150" y="190500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9268EF-CD13-4C61-B5C3-5BA79D9C5CDE}"/>
              </a:ext>
            </a:extLst>
          </p:cNvPr>
          <p:cNvSpPr>
            <a:spLocks noGrp="1"/>
          </p:cNvSpPr>
          <p:nvPr/>
        </p:nvSpPr>
        <p:spPr>
          <a:xfrm>
            <a:off x="3257550" y="20383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选择路径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D7C789-0D10-4C8E-97F5-BA75C00BACCD}"/>
              </a:ext>
            </a:extLst>
          </p:cNvPr>
          <p:cNvSpPr>
            <a:spLocks noGrp="1"/>
          </p:cNvSpPr>
          <p:nvPr/>
        </p:nvSpPr>
        <p:spPr>
          <a:xfrm>
            <a:off x="3257550" y="233362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PDF 或 OCR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C9A28ED9-D80F-4169-9120-80CCDD2307AC}"/>
              </a:ext>
            </a:extLst>
          </p:cNvPr>
          <p:cNvSpPr>
            <a:spLocks noGrp="1"/>
          </p:cNvSpPr>
          <p:nvPr/>
        </p:nvSpPr>
        <p:spPr>
          <a:xfrm>
            <a:off x="5438775" y="2190750"/>
            <a:ext cx="266700" cy="171450"/>
          </a:xfrm>
          <a:prstGeom prst="rightArrow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146AE2B-DB59-449E-A39C-03AE36CA15D4}"/>
              </a:ext>
            </a:extLst>
          </p:cNvPr>
          <p:cNvSpPr>
            <a:spLocks noGrp="1"/>
          </p:cNvSpPr>
          <p:nvPr/>
        </p:nvSpPr>
        <p:spPr>
          <a:xfrm>
            <a:off x="5600700" y="190500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B234D9-C4F0-49FA-BC02-97E861610EE7}"/>
              </a:ext>
            </a:extLst>
          </p:cNvPr>
          <p:cNvSpPr>
            <a:spLocks noGrp="1"/>
          </p:cNvSpPr>
          <p:nvPr/>
        </p:nvSpPr>
        <p:spPr>
          <a:xfrm>
            <a:off x="5753100" y="20383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候选提取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36AB4A-2AD8-4A0B-B7A9-24ABB97F1676}"/>
              </a:ext>
            </a:extLst>
          </p:cNvPr>
          <p:cNvSpPr>
            <a:spLocks noGrp="1"/>
          </p:cNvSpPr>
          <p:nvPr/>
        </p:nvSpPr>
        <p:spPr>
          <a:xfrm>
            <a:off x="5753100" y="233362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事实 / 文本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F9A4150D-0FA6-428E-9330-4A2D966E722A}"/>
              </a:ext>
            </a:extLst>
          </p:cNvPr>
          <p:cNvSpPr>
            <a:spLocks noGrp="1"/>
          </p:cNvSpPr>
          <p:nvPr/>
        </p:nvSpPr>
        <p:spPr>
          <a:xfrm>
            <a:off x="7934325" y="2190750"/>
            <a:ext cx="266700" cy="171450"/>
          </a:xfrm>
          <a:prstGeom prst="rightArrow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EC1C16A-86FA-4F47-964F-0CC7ACC6942D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D9F0F2"/>
          </a:solidFill>
          <a:ln w="9525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AF378F-2A38-4F0A-8171-FC57847030B9}"/>
              </a:ext>
            </a:extLst>
          </p:cNvPr>
          <p:cNvSpPr>
            <a:spLocks noGrp="1"/>
          </p:cNvSpPr>
          <p:nvPr/>
        </p:nvSpPr>
        <p:spPr>
          <a:xfrm>
            <a:off x="8248650" y="20383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自动校验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728CF0-A1CB-4992-94BB-E8936D28A7E2}"/>
              </a:ext>
            </a:extLst>
          </p:cNvPr>
          <p:cNvSpPr>
            <a:spLocks noGrp="1"/>
          </p:cNvSpPr>
          <p:nvPr/>
        </p:nvSpPr>
        <p:spPr>
          <a:xfrm>
            <a:off x="8248650" y="233362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状态机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60DDFB5-451E-4332-894C-F1A40F3CE7E8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D9F0F2"/>
          </a:solidFill>
          <a:ln w="9525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C660AC-59D0-4871-9AD0-BC8D991FFEE3}"/>
              </a:ext>
            </a:extLst>
          </p:cNvPr>
          <p:cNvSpPr>
            <a:spLocks noGrp="1"/>
          </p:cNvSpPr>
          <p:nvPr/>
        </p:nvSpPr>
        <p:spPr>
          <a:xfrm>
            <a:off x="762000" y="37338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分层保存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A0C3A5-4224-4053-B087-FB95B9C18817}"/>
              </a:ext>
            </a:extLst>
          </p:cNvPr>
          <p:cNvSpPr>
            <a:spLocks noGrp="1"/>
          </p:cNvSpPr>
          <p:nvPr/>
        </p:nvSpPr>
        <p:spPr>
          <a:xfrm>
            <a:off x="762000" y="402907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结构化 / 叙述</a:t>
            </a: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7AA1AECF-CA42-49A9-BF6E-F0F51E9C7D28}"/>
              </a:ext>
            </a:extLst>
          </p:cNvPr>
          <p:cNvSpPr>
            <a:spLocks noGrp="1"/>
          </p:cNvSpPr>
          <p:nvPr/>
        </p:nvSpPr>
        <p:spPr>
          <a:xfrm>
            <a:off x="2943225" y="3886200"/>
            <a:ext cx="266700" cy="171450"/>
          </a:xfrm>
          <a:prstGeom prst="rightArrow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9CCD5FB-31E1-4E96-8060-41CE91301412}"/>
              </a:ext>
            </a:extLst>
          </p:cNvPr>
          <p:cNvSpPr>
            <a:spLocks noGrp="1"/>
          </p:cNvSpPr>
          <p:nvPr/>
        </p:nvSpPr>
        <p:spPr>
          <a:xfrm>
            <a:off x="3105150" y="360045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91B8F5-C21B-49CD-88BD-9C87ECDBCD85}"/>
              </a:ext>
            </a:extLst>
          </p:cNvPr>
          <p:cNvSpPr>
            <a:spLocks noGrp="1"/>
          </p:cNvSpPr>
          <p:nvPr/>
        </p:nvSpPr>
        <p:spPr>
          <a:xfrm>
            <a:off x="3257550" y="37338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确定性计算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3A47C93-5379-4F8B-9E2D-C109B102D4B0}"/>
              </a:ext>
            </a:extLst>
          </p:cNvPr>
          <p:cNvSpPr>
            <a:spLocks noGrp="1"/>
          </p:cNvSpPr>
          <p:nvPr/>
        </p:nvSpPr>
        <p:spPr>
          <a:xfrm>
            <a:off x="3257550" y="402907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公式 / 期间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052CF582-121D-440D-A5C7-D28EECB89096}"/>
              </a:ext>
            </a:extLst>
          </p:cNvPr>
          <p:cNvSpPr>
            <a:spLocks noGrp="1"/>
          </p:cNvSpPr>
          <p:nvPr/>
        </p:nvSpPr>
        <p:spPr>
          <a:xfrm>
            <a:off x="5438775" y="3886200"/>
            <a:ext cx="266700" cy="171450"/>
          </a:xfrm>
          <a:prstGeom prst="rightArrow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01072F8-BB9A-4BFF-A284-1DDC812D2CA4}"/>
              </a:ext>
            </a:extLst>
          </p:cNvPr>
          <p:cNvSpPr>
            <a:spLocks noGrp="1"/>
          </p:cNvSpPr>
          <p:nvPr/>
        </p:nvSpPr>
        <p:spPr>
          <a:xfrm>
            <a:off x="5600700" y="360045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724429C-B290-4700-BB95-5E211CB7AD72}"/>
              </a:ext>
            </a:extLst>
          </p:cNvPr>
          <p:cNvSpPr>
            <a:spLocks noGrp="1"/>
          </p:cNvSpPr>
          <p:nvPr/>
        </p:nvSpPr>
        <p:spPr>
          <a:xfrm>
            <a:off x="5753100" y="37338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Agent 取证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ACEBCB-CB9A-49F7-9395-16E4D0077165}"/>
              </a:ext>
            </a:extLst>
          </p:cNvPr>
          <p:cNvSpPr>
            <a:spLocks noGrp="1"/>
          </p:cNvSpPr>
          <p:nvPr/>
        </p:nvSpPr>
        <p:spPr>
          <a:xfrm>
            <a:off x="5753100" y="402907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检索 / 补件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057961B5-044E-450B-ADBC-729D5041B5A2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66700" cy="171450"/>
          </a:xfrm>
          <a:prstGeom prst="rightArrow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9073263-EA4C-4D20-BF45-C4140282BC22}"/>
              </a:ext>
            </a:extLst>
          </p:cNvPr>
          <p:cNvSpPr>
            <a:spLocks noGrp="1"/>
          </p:cNvSpPr>
          <p:nvPr/>
        </p:nvSpPr>
        <p:spPr>
          <a:xfrm>
            <a:off x="8096250" y="360045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AF78176-1707-4958-861A-C6E2F7A543A0}"/>
              </a:ext>
            </a:extLst>
          </p:cNvPr>
          <p:cNvSpPr>
            <a:spLocks noGrp="1"/>
          </p:cNvSpPr>
          <p:nvPr/>
        </p:nvSpPr>
        <p:spPr>
          <a:xfrm>
            <a:off x="8248650" y="37338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报告输出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402C2E9-E5CA-4192-A531-950FB724B002}"/>
              </a:ext>
            </a:extLst>
          </p:cNvPr>
          <p:cNvSpPr>
            <a:spLocks noGrp="1"/>
          </p:cNvSpPr>
          <p:nvPr/>
        </p:nvSpPr>
        <p:spPr>
          <a:xfrm>
            <a:off x="8248650" y="4029075"/>
            <a:ext cx="1981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证据 / 边界</a:t>
            </a:r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062EACFC-644D-4F33-BCB0-79234CCBC6A9}"/>
              </a:ext>
            </a:extLst>
          </p:cNvPr>
          <p:cNvSpPr>
            <a:spLocks noGrp="1"/>
          </p:cNvSpPr>
          <p:nvPr/>
        </p:nvSpPr>
        <p:spPr>
          <a:xfrm>
            <a:off x="10096500" y="2647950"/>
            <a:ext cx="0" cy="952500"/>
          </a:xfrm>
          <a:prstGeom prst="line">
            <a:avLst/>
          </a:prstGeom>
          <a:noFill/>
          <a:ln w="28575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D62857D-264F-4269-B7ED-1BE4A04A0F8D}"/>
              </a:ext>
            </a:extLst>
          </p:cNvPr>
          <p:cNvSpPr>
            <a:spLocks noGrp="1"/>
          </p:cNvSpPr>
          <p:nvPr/>
        </p:nvSpPr>
        <p:spPr>
          <a:xfrm>
            <a:off x="857250" y="5124450"/>
            <a:ext cx="9858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6B78"/>
                </a:solidFill>
              </a:defRPr>
            </a:defPPr>
            <a:lvl1pPr>
              <a:defRPr sz="1350" b="1">
                <a:solidFill>
                  <a:srgbClr val="0F6B78"/>
                </a:solidFill>
              </a:defRPr>
            </a:lvl1pPr>
            <a:lvl2pPr>
              <a:defRPr sz="1350" b="1">
                <a:solidFill>
                  <a:srgbClr val="0F6B78"/>
                </a:solidFill>
              </a:defRPr>
            </a:lvl2pPr>
            <a:lvl3pPr>
              <a:defRPr sz="1350" b="1">
                <a:solidFill>
                  <a:srgbClr val="0F6B78"/>
                </a:solidFill>
              </a:defRPr>
            </a:lvl3pPr>
            <a:lvl4pPr>
              <a:defRPr sz="1350" b="1">
                <a:solidFill>
                  <a:srgbClr val="0F6B78"/>
                </a:solidFill>
              </a:defRPr>
            </a:lvl4pPr>
            <a:lvl5pPr>
              <a:defRPr sz="1350" b="1">
                <a:solidFill>
                  <a:srgbClr val="0F6B78"/>
                </a:solidFill>
              </a:defRPr>
            </a:lvl5pPr>
            <a:lvl6pPr>
              <a:defRPr sz="1350" b="1">
                <a:solidFill>
                  <a:srgbClr val="0F6B78"/>
                </a:solidFill>
              </a:defRPr>
            </a:lvl6pPr>
            <a:lvl7pPr>
              <a:defRPr sz="1350" b="1">
                <a:solidFill>
                  <a:srgbClr val="0F6B78"/>
                </a:solidFill>
              </a:defRPr>
            </a:lvl7pPr>
            <a:lvl8pPr>
              <a:defRPr sz="1350" b="1">
                <a:solidFill>
                  <a:srgbClr val="0F6B78"/>
                </a:solidFill>
              </a:defRPr>
            </a:lvl8pPr>
            <a:lvl9pPr>
              <a:defRPr sz="1350" b="1">
                <a:solidFill>
                  <a:srgbClr val="0F6B78"/>
                </a:solidFill>
              </a:defRPr>
            </a:lvl9pPr>
          </a:lstStyle>
          <a:p>
            <a:pPr>
              <a:defRPr sz="1350" b="1">
                <a:solidFill>
                  <a:srgbClr val="0F6B78"/>
                </a:solidFill>
              </a:defRPr>
            </a:pPr>
            <a:r>
              <a:rPr sz="1350" b="1">
                <a:solidFill>
                  <a:srgbClr val="0F6B78"/>
                </a:solidFill>
              </a:rPr>
              <a:t>严格计算只读取 auto_passed 且来源可追溯的事实。candidate、needs_review、rejected 保留为可解释状态。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C40B6B-AF23-417A-91DA-9B8DB10007E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392AA54-286D-4BAC-9FB3-32D93D37C1B3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5389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5ED3C357-0212-4624-A350-A985BD63C23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03  架构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9D414B-0628-4BE0-83B6-773BDC997A5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各组件有明确边界：存储负责权威，检索负责召回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B25F70-B9FF-4A06-B766-E7E47D55B7F5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模型通过注册工具取证，不直接访问任意路径、SQL 或系统命令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0D94012-1EAC-49B1-B99C-FB4673699418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10363200" cy="533400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E6C1CE-948A-41F7-8AE7-226FBC3647F3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交互层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F81123B-D176-402D-B4C3-77F9BE63F57B}"/>
              </a:ext>
            </a:extLst>
          </p:cNvPr>
          <p:cNvSpPr>
            <a:spLocks noGrp="1"/>
          </p:cNvSpPr>
          <p:nvPr/>
        </p:nvSpPr>
        <p:spPr>
          <a:xfrm>
            <a:off x="3048000" y="19050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FFFFFF"/>
                </a:solidFill>
              </a:defRPr>
            </a:defPPr>
            <a:lvl1pPr>
              <a:defRPr sz="1275">
                <a:solidFill>
                  <a:srgbClr val="FFFFFF"/>
                </a:solidFill>
              </a:defRPr>
            </a:lvl1pPr>
            <a:lvl2pPr>
              <a:defRPr sz="1275">
                <a:solidFill>
                  <a:srgbClr val="FFFFFF"/>
                </a:solidFill>
              </a:defRPr>
            </a:lvl2pPr>
            <a:lvl3pPr>
              <a:defRPr sz="1275">
                <a:solidFill>
                  <a:srgbClr val="FFFFFF"/>
                </a:solidFill>
              </a:defRPr>
            </a:lvl3pPr>
            <a:lvl4pPr>
              <a:defRPr sz="1275">
                <a:solidFill>
                  <a:srgbClr val="FFFFFF"/>
                </a:solidFill>
              </a:defRPr>
            </a:lvl4pPr>
            <a:lvl5pPr>
              <a:defRPr sz="1275">
                <a:solidFill>
                  <a:srgbClr val="FFFFFF"/>
                </a:solidFill>
              </a:defRPr>
            </a:lvl5pPr>
            <a:lvl6pPr>
              <a:defRPr sz="1275">
                <a:solidFill>
                  <a:srgbClr val="FFFFFF"/>
                </a:solidFill>
              </a:defRPr>
            </a:lvl6pPr>
            <a:lvl7pPr>
              <a:defRPr sz="1275">
                <a:solidFill>
                  <a:srgbClr val="FFFFFF"/>
                </a:solidFill>
              </a:defRPr>
            </a:lvl7pPr>
            <a:lvl8pPr>
              <a:defRPr sz="1275">
                <a:solidFill>
                  <a:srgbClr val="FFFFFF"/>
                </a:solidFill>
              </a:defRPr>
            </a:lvl8pPr>
            <a:lvl9pPr>
              <a:defRPr sz="1275">
                <a:solidFill>
                  <a:srgbClr val="FFFFFF"/>
                </a:solidFill>
              </a:defRPr>
            </a:lvl9pPr>
          </a:lstStyle>
          <a:p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WPF 桌面端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D1BAB37-FED8-426C-AF11-2006FC728D1B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10363200" cy="533400"/>
          </a:xfrm>
          <a:prstGeom prst="roundRect">
            <a:avLst>
              <a:gd name="adj" fmla="val 14286"/>
            </a:avLst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304D0E-0F77-44A8-9D75-317CC8B7E745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编排层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8BC13C-8DEC-4FBC-B61A-7A824DA551AE}"/>
              </a:ext>
            </a:extLst>
          </p:cNvPr>
          <p:cNvSpPr>
            <a:spLocks noGrp="1"/>
          </p:cNvSpPr>
          <p:nvPr/>
        </p:nvSpPr>
        <p:spPr>
          <a:xfrm>
            <a:off x="3048000" y="26479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FFFFFF"/>
                </a:solidFill>
              </a:defRPr>
            </a:defPPr>
            <a:lvl1pPr>
              <a:defRPr sz="1275">
                <a:solidFill>
                  <a:srgbClr val="FFFFFF"/>
                </a:solidFill>
              </a:defRPr>
            </a:lvl1pPr>
            <a:lvl2pPr>
              <a:defRPr sz="1275">
                <a:solidFill>
                  <a:srgbClr val="FFFFFF"/>
                </a:solidFill>
              </a:defRPr>
            </a:lvl2pPr>
            <a:lvl3pPr>
              <a:defRPr sz="1275">
                <a:solidFill>
                  <a:srgbClr val="FFFFFF"/>
                </a:solidFill>
              </a:defRPr>
            </a:lvl3pPr>
            <a:lvl4pPr>
              <a:defRPr sz="1275">
                <a:solidFill>
                  <a:srgbClr val="FFFFFF"/>
                </a:solidFill>
              </a:defRPr>
            </a:lvl4pPr>
            <a:lvl5pPr>
              <a:defRPr sz="1275">
                <a:solidFill>
                  <a:srgbClr val="FFFFFF"/>
                </a:solidFill>
              </a:defRPr>
            </a:lvl5pPr>
            <a:lvl6pPr>
              <a:defRPr sz="1275">
                <a:solidFill>
                  <a:srgbClr val="FFFFFF"/>
                </a:solidFill>
              </a:defRPr>
            </a:lvl6pPr>
            <a:lvl7pPr>
              <a:defRPr sz="1275">
                <a:solidFill>
                  <a:srgbClr val="FFFFFF"/>
                </a:solidFill>
              </a:defRPr>
            </a:lvl7pPr>
            <a:lvl8pPr>
              <a:defRPr sz="1275">
                <a:solidFill>
                  <a:srgbClr val="FFFFFF"/>
                </a:solidFill>
              </a:defRPr>
            </a:lvl8pPr>
            <a:lvl9pPr>
              <a:defRPr sz="1275">
                <a:solidFill>
                  <a:srgbClr val="FFFFFF"/>
                </a:solidFill>
              </a:defRPr>
            </a:lvl9pPr>
          </a:lstStyle>
          <a:p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FastAPI 工作流 / 任务状态 / 报告导出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85646D9-BA44-41DC-9C10-9D277183BFA6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10363200" cy="533400"/>
          </a:xfrm>
          <a:prstGeom prst="roundRect">
            <a:avLst>
              <a:gd name="adj" fmla="val 14286"/>
            </a:avLst>
          </a:prstGeom>
          <a:solidFill>
            <a:srgbClr val="2F855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CDA90E-B636-4B1E-B41C-8FBAC1A63AA1}"/>
              </a:ext>
            </a:extLst>
          </p:cNvPr>
          <p:cNvSpPr>
            <a:spLocks noGrp="1"/>
          </p:cNvSpPr>
          <p:nvPr/>
        </p:nvSpPr>
        <p:spPr>
          <a:xfrm>
            <a:off x="1143000" y="33909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领域层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988364-F612-4565-8672-7BFADCB7AD66}"/>
              </a:ext>
            </a:extLst>
          </p:cNvPr>
          <p:cNvSpPr>
            <a:spLocks noGrp="1"/>
          </p:cNvSpPr>
          <p:nvPr/>
        </p:nvSpPr>
        <p:spPr>
          <a:xfrm>
            <a:off x="3048000" y="33909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FFFFFF"/>
                </a:solidFill>
              </a:defRPr>
            </a:defPPr>
            <a:lvl1pPr>
              <a:defRPr sz="1275">
                <a:solidFill>
                  <a:srgbClr val="FFFFFF"/>
                </a:solidFill>
              </a:defRPr>
            </a:lvl1pPr>
            <a:lvl2pPr>
              <a:defRPr sz="1275">
                <a:solidFill>
                  <a:srgbClr val="FFFFFF"/>
                </a:solidFill>
              </a:defRPr>
            </a:lvl2pPr>
            <a:lvl3pPr>
              <a:defRPr sz="1275">
                <a:solidFill>
                  <a:srgbClr val="FFFFFF"/>
                </a:solidFill>
              </a:defRPr>
            </a:lvl3pPr>
            <a:lvl4pPr>
              <a:defRPr sz="1275">
                <a:solidFill>
                  <a:srgbClr val="FFFFFF"/>
                </a:solidFill>
              </a:defRPr>
            </a:lvl4pPr>
            <a:lvl5pPr>
              <a:defRPr sz="1275">
                <a:solidFill>
                  <a:srgbClr val="FFFFFF"/>
                </a:solidFill>
              </a:defRPr>
            </a:lvl5pPr>
            <a:lvl6pPr>
              <a:defRPr sz="1275">
                <a:solidFill>
                  <a:srgbClr val="FFFFFF"/>
                </a:solidFill>
              </a:defRPr>
            </a:lvl6pPr>
            <a:lvl7pPr>
              <a:defRPr sz="1275">
                <a:solidFill>
                  <a:srgbClr val="FFFFFF"/>
                </a:solidFill>
              </a:defRPr>
            </a:lvl7pPr>
            <a:lvl8pPr>
              <a:defRPr sz="1275">
                <a:solidFill>
                  <a:srgbClr val="FFFFFF"/>
                </a:solidFill>
              </a:defRPr>
            </a:lvl8pPr>
            <a:lvl9pPr>
              <a:defRPr sz="1275">
                <a:solidFill>
                  <a:srgbClr val="FFFFFF"/>
                </a:solidFill>
              </a:defRPr>
            </a:lvl9pPr>
          </a:lstStyle>
          <a:p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Python uv workspace / 口径 / 公式 / Agent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D5B672E-C208-4F43-B7C4-008559B26888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10363200" cy="53340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D75381-A111-42C7-9B2C-9D6483F1F6BE}"/>
              </a:ext>
            </a:extLst>
          </p:cNvPr>
          <p:cNvSpPr>
            <a:spLocks noGrp="1"/>
          </p:cNvSpPr>
          <p:nvPr/>
        </p:nvSpPr>
        <p:spPr>
          <a:xfrm>
            <a:off x="1143000" y="41338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提取与检索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5A0215-BDF9-4312-B371-E4A96852A84D}"/>
              </a:ext>
            </a:extLst>
          </p:cNvPr>
          <p:cNvSpPr>
            <a:spLocks noGrp="1"/>
          </p:cNvSpPr>
          <p:nvPr/>
        </p:nvSpPr>
        <p:spPr>
          <a:xfrm>
            <a:off x="3048000" y="41338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FFFFFF"/>
                </a:solidFill>
              </a:defRPr>
            </a:defPPr>
            <a:lvl1pPr>
              <a:defRPr sz="1275">
                <a:solidFill>
                  <a:srgbClr val="FFFFFF"/>
                </a:solidFill>
              </a:defRPr>
            </a:lvl1pPr>
            <a:lvl2pPr>
              <a:defRPr sz="1275">
                <a:solidFill>
                  <a:srgbClr val="FFFFFF"/>
                </a:solidFill>
              </a:defRPr>
            </a:lvl2pPr>
            <a:lvl3pPr>
              <a:defRPr sz="1275">
                <a:solidFill>
                  <a:srgbClr val="FFFFFF"/>
                </a:solidFill>
              </a:defRPr>
            </a:lvl3pPr>
            <a:lvl4pPr>
              <a:defRPr sz="1275">
                <a:solidFill>
                  <a:srgbClr val="FFFFFF"/>
                </a:solidFill>
              </a:defRPr>
            </a:lvl4pPr>
            <a:lvl5pPr>
              <a:defRPr sz="1275">
                <a:solidFill>
                  <a:srgbClr val="FFFFFF"/>
                </a:solidFill>
              </a:defRPr>
            </a:lvl5pPr>
            <a:lvl6pPr>
              <a:defRPr sz="1275">
                <a:solidFill>
                  <a:srgbClr val="FFFFFF"/>
                </a:solidFill>
              </a:defRPr>
            </a:lvl6pPr>
            <a:lvl7pPr>
              <a:defRPr sz="1275">
                <a:solidFill>
                  <a:srgbClr val="FFFFFF"/>
                </a:solidFill>
              </a:defRPr>
            </a:lvl7pPr>
            <a:lvl8pPr>
              <a:defRPr sz="1275">
                <a:solidFill>
                  <a:srgbClr val="FFFFFF"/>
                </a:solidFill>
              </a:defRPr>
            </a:lvl8pPr>
            <a:lvl9pPr>
              <a:defRPr sz="1275">
                <a:solidFill>
                  <a:srgbClr val="FFFFFF"/>
                </a:solidFill>
              </a:defRPr>
            </a:lvl9pPr>
          </a:lstStyle>
          <a:p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PDF 文字坐标 / Unlimited-OCR / Docling MCP / Qdrant MCP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03B9ED1-E65A-4953-8E0A-BF22B66E0A82}"/>
              </a:ext>
            </a:extLst>
          </p:cNvPr>
          <p:cNvSpPr>
            <a:spLocks noGrp="1"/>
          </p:cNvSpPr>
          <p:nvPr/>
        </p:nvSpPr>
        <p:spPr>
          <a:xfrm>
            <a:off x="914400" y="4781550"/>
            <a:ext cx="10363200" cy="533400"/>
          </a:xfrm>
          <a:prstGeom prst="roundRect">
            <a:avLst>
              <a:gd name="adj" fmla="val 14286"/>
            </a:avLst>
          </a:prstGeom>
          <a:solidFill>
            <a:srgbClr val="6B46C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77EC16-8B7E-4CA5-8B0F-F5501ABE28DD}"/>
              </a:ext>
            </a:extLst>
          </p:cNvPr>
          <p:cNvSpPr>
            <a:spLocks noGrp="1"/>
          </p:cNvSpPr>
          <p:nvPr/>
        </p:nvSpPr>
        <p:spPr>
          <a:xfrm>
            <a:off x="1143000" y="48768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FFFFFF"/>
                </a:solidFill>
              </a:defRPr>
            </a:defPPr>
            <a:lvl1pPr>
              <a:defRPr sz="1200" b="1">
                <a:solidFill>
                  <a:srgbClr val="FFFFFF"/>
                </a:solidFill>
              </a:defRPr>
            </a:lvl1pPr>
            <a:lvl2pPr>
              <a:defRPr sz="1200" b="1">
                <a:solidFill>
                  <a:srgbClr val="FFFFFF"/>
                </a:solidFill>
              </a:defRPr>
            </a:lvl2pPr>
            <a:lvl3pPr>
              <a:defRPr sz="1200" b="1">
                <a:solidFill>
                  <a:srgbClr val="FFFFFF"/>
                </a:solidFill>
              </a:defRPr>
            </a:lvl3pPr>
            <a:lvl4pPr>
              <a:defRPr sz="1200" b="1">
                <a:solidFill>
                  <a:srgbClr val="FFFFFF"/>
                </a:solidFill>
              </a:defRPr>
            </a:lvl4pPr>
            <a:lvl5pPr>
              <a:defRPr sz="1200" b="1">
                <a:solidFill>
                  <a:srgbClr val="FFFFFF"/>
                </a:solidFill>
              </a:defRPr>
            </a:lvl5pPr>
            <a:lvl6pPr>
              <a:defRPr sz="1200" b="1">
                <a:solidFill>
                  <a:srgbClr val="FFFFFF"/>
                </a:solidFill>
              </a:defRPr>
            </a:lvl6pPr>
            <a:lvl7pPr>
              <a:defRPr sz="1200" b="1">
                <a:solidFill>
                  <a:srgbClr val="FFFFFF"/>
                </a:solidFill>
              </a:defRPr>
            </a:lvl7pPr>
            <a:lvl8pPr>
              <a:defRPr sz="1200" b="1">
                <a:solidFill>
                  <a:srgbClr val="FFFFFF"/>
                </a:solidFill>
              </a:defRPr>
            </a:lvl8pPr>
            <a:lvl9pPr>
              <a:defRPr sz="1200" b="1">
                <a:solidFill>
                  <a:srgbClr val="FFFFFF"/>
                </a:solidFill>
              </a:defRPr>
            </a:lvl9pPr>
          </a:lstStyle>
          <a:p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权威证据层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397DAB-3D04-44AC-A52F-834F31B34188}"/>
              </a:ext>
            </a:extLst>
          </p:cNvPr>
          <p:cNvSpPr>
            <a:spLocks noGrp="1"/>
          </p:cNvSpPr>
          <p:nvPr/>
        </p:nvSpPr>
        <p:spPr>
          <a:xfrm>
            <a:off x="3048000" y="487680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FFFFFF"/>
                </a:solidFill>
              </a:defRPr>
            </a:defPPr>
            <a:lvl1pPr>
              <a:defRPr sz="1275">
                <a:solidFill>
                  <a:srgbClr val="FFFFFF"/>
                </a:solidFill>
              </a:defRPr>
            </a:lvl1pPr>
            <a:lvl2pPr>
              <a:defRPr sz="1275">
                <a:solidFill>
                  <a:srgbClr val="FFFFFF"/>
                </a:solidFill>
              </a:defRPr>
            </a:lvl2pPr>
            <a:lvl3pPr>
              <a:defRPr sz="1275">
                <a:solidFill>
                  <a:srgbClr val="FFFFFF"/>
                </a:solidFill>
              </a:defRPr>
            </a:lvl3pPr>
            <a:lvl4pPr>
              <a:defRPr sz="1275">
                <a:solidFill>
                  <a:srgbClr val="FFFFFF"/>
                </a:solidFill>
              </a:defRPr>
            </a:lvl4pPr>
            <a:lvl5pPr>
              <a:defRPr sz="1275">
                <a:solidFill>
                  <a:srgbClr val="FFFFFF"/>
                </a:solidFill>
              </a:defRPr>
            </a:lvl5pPr>
            <a:lvl6pPr>
              <a:defRPr sz="1275">
                <a:solidFill>
                  <a:srgbClr val="FFFFFF"/>
                </a:solidFill>
              </a:defRPr>
            </a:lvl6pPr>
            <a:lvl7pPr>
              <a:defRPr sz="1275">
                <a:solidFill>
                  <a:srgbClr val="FFFFFF"/>
                </a:solidFill>
              </a:defRPr>
            </a:lvl7pPr>
            <a:lvl8pPr>
              <a:defRPr sz="1275">
                <a:solidFill>
                  <a:srgbClr val="FFFFFF"/>
                </a:solidFill>
              </a:defRPr>
            </a:lvl8pPr>
            <a:lvl9pPr>
              <a:defRPr sz="1275">
                <a:solidFill>
                  <a:srgbClr val="FFFFFF"/>
                </a:solidFill>
              </a:defRPr>
            </a:lvl9pPr>
          </a:lstStyle>
          <a:p>
            <a:pPr>
              <a:defRPr sz="1275">
                <a:solidFill>
                  <a:srgbClr val="FFFFFF"/>
                </a:solidFill>
              </a:defRPr>
            </a:pPr>
            <a:r>
              <a:rPr sz="1275">
                <a:solidFill>
                  <a:srgbClr val="FFFFFF"/>
                </a:solidFill>
              </a:rPr>
              <a:t>SQLite 文本、事实、来源、输入哈希和运行日志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949DB2-8880-47D9-BFB0-58896DEAF1E0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36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Qdrant 只做按 filing_version_id 过滤的证据召回，不批准事实，也不执行财务计算。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54B72F4-30AA-415A-9E13-D2047C7BFB4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AB4D28-4238-4E7B-BC58-511A3DE83D8D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925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2669FFA-1CCF-40A1-A01F-14882879DFB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04  财务方法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E83E43-5C4F-472F-9D2E-5AFB82E8800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先统一口径，再计算变化，最后解释原因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FA2728-25F2-4A63-94F2-F0BAED03CA62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数值等式可以证明变化，不能单独证明业务因果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E8FF652-9766-4CC1-A800-A8F83EA5E611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2400300" cy="1952625"/>
          </a:xfrm>
          <a:prstGeom prst="roundRect">
            <a:avLst>
              <a:gd name="adj" fmla="val 3902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36661F-7433-4539-B948-A93CED6516EF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66675" cy="1952625"/>
          </a:xfrm>
          <a:prstGeom prst="rect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BA44CC-4303-4CE6-87E3-CB8F64314496}"/>
              </a:ext>
            </a:extLst>
          </p:cNvPr>
          <p:cNvSpPr>
            <a:spLocks noGrp="1"/>
          </p:cNvSpPr>
          <p:nvPr/>
        </p:nvSpPr>
        <p:spPr>
          <a:xfrm>
            <a:off x="800100" y="1905000"/>
            <a:ext cx="2057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事实字段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985317-7903-4ECF-A244-975D929507A2}"/>
              </a:ext>
            </a:extLst>
          </p:cNvPr>
          <p:cNvSpPr>
            <a:spLocks noGrp="1"/>
          </p:cNvSpPr>
          <p:nvPr/>
        </p:nvSpPr>
        <p:spPr>
          <a:xfrm>
            <a:off x="800100" y="2228850"/>
            <a:ext cx="2057400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公司、报告版本、科目、币种与单位、期间、主体、合并范围、来源页、校验状态。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8B2D744-641E-421E-8F87-0968C16920A1}"/>
              </a:ext>
            </a:extLst>
          </p:cNvPr>
          <p:cNvSpPr>
            <a:spLocks noGrp="1"/>
          </p:cNvSpPr>
          <p:nvPr/>
        </p:nvSpPr>
        <p:spPr>
          <a:xfrm>
            <a:off x="3181350" y="1752600"/>
            <a:ext cx="2400300" cy="1952625"/>
          </a:xfrm>
          <a:prstGeom prst="roundRect">
            <a:avLst>
              <a:gd name="adj" fmla="val 3902"/>
            </a:avLst>
          </a:prstGeom>
          <a:solidFill>
            <a:srgbClr val="F8F5E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1CF5B6-ED0A-4683-9C9E-6D579FA4C1B5}"/>
              </a:ext>
            </a:extLst>
          </p:cNvPr>
          <p:cNvSpPr>
            <a:spLocks noGrp="1"/>
          </p:cNvSpPr>
          <p:nvPr/>
        </p:nvSpPr>
        <p:spPr>
          <a:xfrm>
            <a:off x="3181350" y="1752600"/>
            <a:ext cx="66675" cy="1952625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265186-3DE6-4133-A888-87B30831EA34}"/>
              </a:ext>
            </a:extLst>
          </p:cNvPr>
          <p:cNvSpPr>
            <a:spLocks noGrp="1"/>
          </p:cNvSpPr>
          <p:nvPr/>
        </p:nvSpPr>
        <p:spPr>
          <a:xfrm>
            <a:off x="3371850" y="1905000"/>
            <a:ext cx="2057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同比与环比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C0CE37-AE75-4A23-A7EE-02F3A025A726}"/>
              </a:ext>
            </a:extLst>
          </p:cNvPr>
          <p:cNvSpPr>
            <a:spLocks noGrp="1"/>
          </p:cNvSpPr>
          <p:nvPr/>
        </p:nvSpPr>
        <p:spPr>
          <a:xfrm>
            <a:off x="3371850" y="2228850"/>
            <a:ext cx="2057400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累计差分推导单季；检查分母、比较期和口径；零或负基数时拒绝误导性百分比。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A5CBE45-068B-4380-A57B-B8732FF77142}"/>
              </a:ext>
            </a:extLst>
          </p:cNvPr>
          <p:cNvSpPr>
            <a:spLocks noGrp="1"/>
          </p:cNvSpPr>
          <p:nvPr/>
        </p:nvSpPr>
        <p:spPr>
          <a:xfrm>
            <a:off x="5753100" y="1752600"/>
            <a:ext cx="2400300" cy="1952625"/>
          </a:xfrm>
          <a:prstGeom prst="roundRect">
            <a:avLst>
              <a:gd name="adj" fmla="val 3902"/>
            </a:avLst>
          </a:prstGeom>
          <a:solidFill>
            <a:srgbClr val="F2F7F5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1FD6C5-4781-44E7-B098-673D91151771}"/>
              </a:ext>
            </a:extLst>
          </p:cNvPr>
          <p:cNvSpPr>
            <a:spLocks noGrp="1"/>
          </p:cNvSpPr>
          <p:nvPr/>
        </p:nvSpPr>
        <p:spPr>
          <a:xfrm>
            <a:off x="5753100" y="1752600"/>
            <a:ext cx="66675" cy="1952625"/>
          </a:xfrm>
          <a:prstGeom prst="rect">
            <a:avLst/>
          </a:prstGeom>
          <a:solidFill>
            <a:srgbClr val="18794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4391BA-B8D2-4D27-9809-497F19DB1BD8}"/>
              </a:ext>
            </a:extLst>
          </p:cNvPr>
          <p:cNvSpPr>
            <a:spLocks noGrp="1"/>
          </p:cNvSpPr>
          <p:nvPr/>
        </p:nvSpPr>
        <p:spPr>
          <a:xfrm>
            <a:off x="5943600" y="1905000"/>
            <a:ext cx="2057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非经常性损益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9D7F17-38BB-4093-AD47-26D7B3A4129E}"/>
              </a:ext>
            </a:extLst>
          </p:cNvPr>
          <p:cNvSpPr>
            <a:spLocks noGrp="1"/>
          </p:cNvSpPr>
          <p:nvPr/>
        </p:nvSpPr>
        <p:spPr>
          <a:xfrm>
            <a:off x="5943600" y="2228850"/>
            <a:ext cx="2057400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保留税项、少数股东、扣减项和跨页续表；缺行、缺页或合计不一致时阻断严格准入。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F763884-9592-466C-B47F-799B0E61AADD}"/>
              </a:ext>
            </a:extLst>
          </p:cNvPr>
          <p:cNvSpPr>
            <a:spLocks noGrp="1"/>
          </p:cNvSpPr>
          <p:nvPr/>
        </p:nvSpPr>
        <p:spPr>
          <a:xfrm>
            <a:off x="8324850" y="1752600"/>
            <a:ext cx="2400300" cy="1952625"/>
          </a:xfrm>
          <a:prstGeom prst="roundRect">
            <a:avLst>
              <a:gd name="adj" fmla="val 3902"/>
            </a:avLst>
          </a:prstGeom>
          <a:solidFill>
            <a:srgbClr val="F4F0F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EE6834-9C1E-4A9E-8072-FE8D4A9DC000}"/>
              </a:ext>
            </a:extLst>
          </p:cNvPr>
          <p:cNvSpPr>
            <a:spLocks noGrp="1"/>
          </p:cNvSpPr>
          <p:nvPr/>
        </p:nvSpPr>
        <p:spPr>
          <a:xfrm>
            <a:off x="8324850" y="1752600"/>
            <a:ext cx="66675" cy="1952625"/>
          </a:xfrm>
          <a:prstGeom prst="rect">
            <a:avLst/>
          </a:prstGeom>
          <a:solidFill>
            <a:srgbClr val="6B46C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749857-A464-4EC0-9062-28BDD7127BD3}"/>
              </a:ext>
            </a:extLst>
          </p:cNvPr>
          <p:cNvSpPr>
            <a:spLocks noGrp="1"/>
          </p:cNvSpPr>
          <p:nvPr/>
        </p:nvSpPr>
        <p:spPr>
          <a:xfrm>
            <a:off x="8515350" y="1905000"/>
            <a:ext cx="2057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利润与 CFO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5F7651-8D4F-481D-AA46-2A9210EC075E}"/>
              </a:ext>
            </a:extLst>
          </p:cNvPr>
          <p:cNvSpPr>
            <a:spLocks noGrp="1"/>
          </p:cNvSpPr>
          <p:nvPr/>
        </p:nvSpPr>
        <p:spPr>
          <a:xfrm>
            <a:off x="8515350" y="2228850"/>
            <a:ext cx="2057400" cy="1362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量化净利润与经营现金流方向和比率；调节项是桥接证据，不直接等于经营原因。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30F9CBA-9298-4BBD-9B9B-7EA4ECD8D9F6}"/>
              </a:ext>
            </a:extLst>
          </p:cNvPr>
          <p:cNvSpPr>
            <a:spLocks noGrp="1"/>
          </p:cNvSpPr>
          <p:nvPr/>
        </p:nvSpPr>
        <p:spPr>
          <a:xfrm>
            <a:off x="1123950" y="4267200"/>
            <a:ext cx="9525000" cy="1047750"/>
          </a:xfrm>
          <a:prstGeom prst="roundRect">
            <a:avLst>
              <a:gd name="adj" fmla="val 7273"/>
            </a:avLst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B6A518-E676-405A-9393-0BD5950AE520}"/>
              </a:ext>
            </a:extLst>
          </p:cNvPr>
          <p:cNvSpPr>
            <a:spLocks noGrp="1"/>
          </p:cNvSpPr>
          <p:nvPr/>
        </p:nvSpPr>
        <p:spPr>
          <a:xfrm>
            <a:off x="1428750" y="4457700"/>
            <a:ext cx="895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9DE0DE"/>
                </a:solidFill>
              </a:defRPr>
            </a:defPPr>
            <a:lvl1pPr>
              <a:defRPr sz="1200" b="1">
                <a:solidFill>
                  <a:srgbClr val="9DE0DE"/>
                </a:solidFill>
              </a:defRPr>
            </a:lvl1pPr>
            <a:lvl2pPr>
              <a:defRPr sz="1200" b="1">
                <a:solidFill>
                  <a:srgbClr val="9DE0DE"/>
                </a:solidFill>
              </a:defRPr>
            </a:lvl2pPr>
            <a:lvl3pPr>
              <a:defRPr sz="1200" b="1">
                <a:solidFill>
                  <a:srgbClr val="9DE0DE"/>
                </a:solidFill>
              </a:defRPr>
            </a:lvl3pPr>
            <a:lvl4pPr>
              <a:defRPr sz="1200" b="1">
                <a:solidFill>
                  <a:srgbClr val="9DE0DE"/>
                </a:solidFill>
              </a:defRPr>
            </a:lvl4pPr>
            <a:lvl5pPr>
              <a:defRPr sz="1200" b="1">
                <a:solidFill>
                  <a:srgbClr val="9DE0DE"/>
                </a:solidFill>
              </a:defRPr>
            </a:lvl5pPr>
            <a:lvl6pPr>
              <a:defRPr sz="1200" b="1">
                <a:solidFill>
                  <a:srgbClr val="9DE0DE"/>
                </a:solidFill>
              </a:defRPr>
            </a:lvl6pPr>
            <a:lvl7pPr>
              <a:defRPr sz="1200" b="1">
                <a:solidFill>
                  <a:srgbClr val="9DE0DE"/>
                </a:solidFill>
              </a:defRPr>
            </a:lvl7pPr>
            <a:lvl8pPr>
              <a:defRPr sz="1200" b="1">
                <a:solidFill>
                  <a:srgbClr val="9DE0DE"/>
                </a:solidFill>
              </a:defRPr>
            </a:lvl8pPr>
            <a:lvl9pPr>
              <a:defRPr sz="1200" b="1">
                <a:solidFill>
                  <a:srgbClr val="9DE0DE"/>
                </a:solidFill>
              </a:defRPr>
            </a:lvl9pPr>
          </a:lstStyle>
          <a:p>
            <a:pPr>
              <a:defRPr sz="1200" b="1">
                <a:solidFill>
                  <a:srgbClr val="9DE0DE"/>
                </a:solidFill>
              </a:defRPr>
            </a:pPr>
            <a:r>
              <a:rPr sz="1200" b="1">
                <a:solidFill>
                  <a:srgbClr val="9DE0DE"/>
                </a:solidFill>
              </a:rPr>
              <a:t>受限样例：经营活动现金流量净额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89F13D-5987-41C5-A5F5-E53D6AB0C1FB}"/>
              </a:ext>
            </a:extLst>
          </p:cNvPr>
          <p:cNvSpPr>
            <a:spLocks noGrp="1"/>
          </p:cNvSpPr>
          <p:nvPr/>
        </p:nvSpPr>
        <p:spPr>
          <a:xfrm>
            <a:off x="1428750" y="4781550"/>
            <a:ext cx="895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31,833,471 - 14,178,310 = 17,655,161 千元，约 +124.5223%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002276E-A73C-4D0C-B9BE-BA97A1FDCDB8}"/>
              </a:ext>
            </a:extLst>
          </p:cNvPr>
          <p:cNvSpPr>
            <a:spLocks noGrp="1"/>
          </p:cNvSpPr>
          <p:nvPr/>
        </p:nvSpPr>
        <p:spPr>
          <a:xfrm>
            <a:off x="1162050" y="5638800"/>
            <a:ext cx="942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52606D"/>
                </a:solidFill>
              </a:defRPr>
            </a:defPPr>
            <a:lvl1pPr>
              <a:defRPr sz="1200">
                <a:solidFill>
                  <a:srgbClr val="52606D"/>
                </a:solidFill>
              </a:defRPr>
            </a:lvl1pPr>
            <a:lvl2pPr>
              <a:defRPr sz="1200">
                <a:solidFill>
                  <a:srgbClr val="52606D"/>
                </a:solidFill>
              </a:defRPr>
            </a:lvl2pPr>
            <a:lvl3pPr>
              <a:defRPr sz="1200">
                <a:solidFill>
                  <a:srgbClr val="52606D"/>
                </a:solidFill>
              </a:defRPr>
            </a:lvl3pPr>
            <a:lvl4pPr>
              <a:defRPr sz="1200">
                <a:solidFill>
                  <a:srgbClr val="52606D"/>
                </a:solidFill>
              </a:defRPr>
            </a:lvl4pPr>
            <a:lvl5pPr>
              <a:defRPr sz="1200">
                <a:solidFill>
                  <a:srgbClr val="52606D"/>
                </a:solidFill>
              </a:defRPr>
            </a:lvl5pPr>
            <a:lvl6pPr>
              <a:defRPr sz="1200">
                <a:solidFill>
                  <a:srgbClr val="52606D"/>
                </a:solidFill>
              </a:defRPr>
            </a:lvl6pPr>
            <a:lvl7pPr>
              <a:defRPr sz="1200">
                <a:solidFill>
                  <a:srgbClr val="52606D"/>
                </a:solidFill>
              </a:defRPr>
            </a:lvl7pPr>
            <a:lvl8pPr>
              <a:defRPr sz="1200">
                <a:solidFill>
                  <a:srgbClr val="52606D"/>
                </a:solidFill>
              </a:defRPr>
            </a:lvl8pPr>
            <a:lvl9pPr>
              <a:defRPr sz="1200">
                <a:solidFill>
                  <a:srgbClr val="52606D"/>
                </a:solidFill>
              </a:defRPr>
            </a:lvl9pPr>
          </a:lstStyle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程序可以复算；业务原因仍需管理层说明或附注证据。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A87883-3C80-428F-A415-FF28651EFA8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0E1160-3308-45A2-8F6A-6D9C47A6F99A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08532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2805E041-D026-4025-AC8F-27B96B63E16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05  AGENT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C5B771-FC81-4649-AD3F-8EA6F99333E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模型围绕子命题取证，缺材料时请求补件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61407D-E8DA-4249-9AC9-63794D0A19B8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一次只处理当前问题需要的证据，避免把整本报告压进上下文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6139B2B-68CD-4F7A-80B7-6BE8CF0DB59A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2381250" cy="2286000"/>
          </a:xfrm>
          <a:prstGeom prst="roundRect">
            <a:avLst>
              <a:gd name="adj" fmla="val 3333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CD3C83-0F12-48B1-9207-FF7750CB418F}"/>
              </a:ext>
            </a:extLst>
          </p:cNvPr>
          <p:cNvSpPr>
            <a:spLocks noGrp="1"/>
          </p:cNvSpPr>
          <p:nvPr/>
        </p:nvSpPr>
        <p:spPr>
          <a:xfrm>
            <a:off x="819150" y="2133600"/>
            <a:ext cx="1962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子命题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5414E7-E64F-48C3-AC25-0BF1BC9C5A9D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8478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收入变化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利润与 CFO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非经常性损益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会计口径变化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8CE3941-9E13-4ED9-8423-2F270F5B9CDC}"/>
              </a:ext>
            </a:extLst>
          </p:cNvPr>
          <p:cNvSpPr>
            <a:spLocks noGrp="1"/>
          </p:cNvSpPr>
          <p:nvPr/>
        </p:nvSpPr>
        <p:spPr>
          <a:xfrm>
            <a:off x="3181350" y="2971800"/>
            <a:ext cx="457200" cy="171450"/>
          </a:xfrm>
          <a:prstGeom prst="rightArrow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EFA2A35-FE43-4D8C-9A02-4CE176B4FB42}"/>
              </a:ext>
            </a:extLst>
          </p:cNvPr>
          <p:cNvSpPr>
            <a:spLocks noGrp="1"/>
          </p:cNvSpPr>
          <p:nvPr/>
        </p:nvSpPr>
        <p:spPr>
          <a:xfrm>
            <a:off x="3905250" y="1943100"/>
            <a:ext cx="3429000" cy="2286000"/>
          </a:xfrm>
          <a:prstGeom prst="roundRect">
            <a:avLst>
              <a:gd name="adj" fmla="val 3333"/>
            </a:avLst>
          </a:prstGeom>
          <a:solidFill>
            <a:srgbClr val="D9F0F2"/>
          </a:solidFill>
          <a:ln w="9525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81194B-316B-4FE6-B3B2-6C7A623D05A7}"/>
              </a:ext>
            </a:extLst>
          </p:cNvPr>
          <p:cNvSpPr>
            <a:spLocks noGrp="1"/>
          </p:cNvSpPr>
          <p:nvPr/>
        </p:nvSpPr>
        <p:spPr>
          <a:xfrm>
            <a:off x="4152900" y="213360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受控工具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FB19E7-08C5-40FA-87F0-E480658D33F0}"/>
              </a:ext>
            </a:extLst>
          </p:cNvPr>
          <p:cNvSpPr>
            <a:spLocks noGrp="1"/>
          </p:cNvSpPr>
          <p:nvPr/>
        </p:nvSpPr>
        <p:spPr>
          <a:xfrm>
            <a:off x="4210050" y="2571750"/>
            <a:ext cx="28194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查询目录和文本块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读取事实与比较结果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查看公式与来源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提出补件请求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E2F2B4AA-0528-4E4D-9CDB-9C3CDBA854D9}"/>
              </a:ext>
            </a:extLst>
          </p:cNvPr>
          <p:cNvSpPr>
            <a:spLocks noGrp="1"/>
          </p:cNvSpPr>
          <p:nvPr/>
        </p:nvSpPr>
        <p:spPr>
          <a:xfrm>
            <a:off x="7543800" y="2971800"/>
            <a:ext cx="457200" cy="171450"/>
          </a:xfrm>
          <a:prstGeom prst="rightArrow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A856B53-1E08-4242-9158-D57F2F596B37}"/>
              </a:ext>
            </a:extLst>
          </p:cNvPr>
          <p:cNvSpPr>
            <a:spLocks noGrp="1"/>
          </p:cNvSpPr>
          <p:nvPr/>
        </p:nvSpPr>
        <p:spPr>
          <a:xfrm>
            <a:off x="8267700" y="1943100"/>
            <a:ext cx="2476500" cy="2286000"/>
          </a:xfrm>
          <a:prstGeom prst="roundRect">
            <a:avLst>
              <a:gd name="adj" fmla="val 3333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390ECAD-7643-490F-8739-D1068DB5B408}"/>
              </a:ext>
            </a:extLst>
          </p:cNvPr>
          <p:cNvSpPr>
            <a:spLocks noGrp="1"/>
          </p:cNvSpPr>
          <p:nvPr/>
        </p:nvSpPr>
        <p:spPr>
          <a:xfrm>
            <a:off x="8477250" y="2133600"/>
            <a:ext cx="2057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结果类别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501784-AC9D-4DE5-8BB4-71A63F8B3C93}"/>
              </a:ext>
            </a:extLst>
          </p:cNvPr>
          <p:cNvSpPr>
            <a:spLocks noGrp="1"/>
          </p:cNvSpPr>
          <p:nvPr/>
        </p:nvSpPr>
        <p:spPr>
          <a:xfrm>
            <a:off x="8515350" y="2571750"/>
            <a:ext cx="1981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52606D"/>
                </a:solidFill>
              </a:defRPr>
            </a:defPPr>
            <a:lvl1pPr>
              <a:defRPr sz="1350">
                <a:solidFill>
                  <a:srgbClr val="52606D"/>
                </a:solidFill>
              </a:defRPr>
            </a:lvl1pPr>
            <a:lvl2pPr>
              <a:defRPr sz="1350">
                <a:solidFill>
                  <a:srgbClr val="52606D"/>
                </a:solidFill>
              </a:defRPr>
            </a:lvl2pPr>
            <a:lvl3pPr>
              <a:defRPr sz="1350">
                <a:solidFill>
                  <a:srgbClr val="52606D"/>
                </a:solidFill>
              </a:defRPr>
            </a:lvl3pPr>
            <a:lvl4pPr>
              <a:defRPr sz="1350">
                <a:solidFill>
                  <a:srgbClr val="52606D"/>
                </a:solidFill>
              </a:defRPr>
            </a:lvl4pPr>
            <a:lvl5pPr>
              <a:defRPr sz="1350">
                <a:solidFill>
                  <a:srgbClr val="52606D"/>
                </a:solidFill>
              </a:defRPr>
            </a:lvl5pPr>
            <a:lvl6pPr>
              <a:defRPr sz="1350">
                <a:solidFill>
                  <a:srgbClr val="52606D"/>
                </a:solidFill>
              </a:defRPr>
            </a:lvl6pPr>
            <a:lvl7pPr>
              <a:defRPr sz="1350">
                <a:solidFill>
                  <a:srgbClr val="52606D"/>
                </a:solidFill>
              </a:defRPr>
            </a:lvl7pPr>
            <a:lvl8pPr>
              <a:defRPr sz="1350">
                <a:solidFill>
                  <a:srgbClr val="52606D"/>
                </a:solidFill>
              </a:defRPr>
            </a:lvl8pPr>
            <a:lvl9pPr>
              <a:defRPr sz="1350">
                <a:solidFill>
                  <a:srgbClr val="52606D"/>
                </a:solidFill>
              </a:defRPr>
            </a:lvl9pPr>
          </a:lstStyle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公司披露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程序计算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分析推断</a:t>
            </a:r>
          </a:p>
          <a:p>
            <a:pPr>
              <a:defRPr sz="1350">
                <a:solidFill>
                  <a:srgbClr val="52606D"/>
                </a:solidFill>
              </a:defRPr>
            </a:pPr>
            <a:r>
              <a:rPr sz="1350">
                <a:solidFill>
                  <a:srgbClr val="52606D"/>
                </a:solidFill>
              </a:rPr>
              <a:t>待校验 / 证据不足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2B52A33-902A-49E8-9D84-E17D005561D0}"/>
              </a:ext>
            </a:extLst>
          </p:cNvPr>
          <p:cNvSpPr>
            <a:spLocks noGrp="1"/>
          </p:cNvSpPr>
          <p:nvPr/>
        </p:nvSpPr>
        <p:spPr>
          <a:xfrm>
            <a:off x="1809750" y="48577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3AFD436-68C2-47EE-B978-2E7843488DFD}"/>
              </a:ext>
            </a:extLst>
          </p:cNvPr>
          <p:cNvSpPr>
            <a:spLocks noGrp="1"/>
          </p:cNvSpPr>
          <p:nvPr/>
        </p:nvSpPr>
        <p:spPr>
          <a:xfrm>
            <a:off x="1905000" y="492442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D97706"/>
                </a:solidFill>
              </a:defRPr>
            </a:defPPr>
            <a:lvl1pPr>
              <a:defRPr sz="975" b="1">
                <a:solidFill>
                  <a:srgbClr val="D97706"/>
                </a:solidFill>
              </a:defRPr>
            </a:lvl1pPr>
            <a:lvl2pPr>
              <a:defRPr sz="975" b="1">
                <a:solidFill>
                  <a:srgbClr val="D97706"/>
                </a:solidFill>
              </a:defRPr>
            </a:lvl2pPr>
            <a:lvl3pPr>
              <a:defRPr sz="975" b="1">
                <a:solidFill>
                  <a:srgbClr val="D97706"/>
                </a:solidFill>
              </a:defRPr>
            </a:lvl3pPr>
            <a:lvl4pPr>
              <a:defRPr sz="975" b="1">
                <a:solidFill>
                  <a:srgbClr val="D97706"/>
                </a:solidFill>
              </a:defRPr>
            </a:lvl4pPr>
            <a:lvl5pPr>
              <a:defRPr sz="975" b="1">
                <a:solidFill>
                  <a:srgbClr val="D97706"/>
                </a:solidFill>
              </a:defRPr>
            </a:lvl5pPr>
            <a:lvl6pPr>
              <a:defRPr sz="975" b="1">
                <a:solidFill>
                  <a:srgbClr val="D97706"/>
                </a:solidFill>
              </a:defRPr>
            </a:lvl6pPr>
            <a:lvl7pPr>
              <a:defRPr sz="975" b="1">
                <a:solidFill>
                  <a:srgbClr val="D97706"/>
                </a:solidFill>
              </a:defRPr>
            </a:lvl7pPr>
            <a:lvl8pPr>
              <a:defRPr sz="975" b="1">
                <a:solidFill>
                  <a:srgbClr val="D97706"/>
                </a:solidFill>
              </a:defRPr>
            </a:lvl8pPr>
            <a:lvl9pPr>
              <a:defRPr sz="975" b="1">
                <a:solidFill>
                  <a:srgbClr val="D97706"/>
                </a:solidFill>
              </a:defRPr>
            </a:lvl9pPr>
          </a:lstStyle>
          <a:p>
            <a:pPr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waiting_for_documents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C73F2E7-2B7C-4B75-A856-3C5F1766A5CF}"/>
              </a:ext>
            </a:extLst>
          </p:cNvPr>
          <p:cNvSpPr>
            <a:spLocks noGrp="1"/>
          </p:cNvSpPr>
          <p:nvPr/>
        </p:nvSpPr>
        <p:spPr>
          <a:xfrm>
            <a:off x="4095750" y="4857750"/>
            <a:ext cx="1809750" cy="304800"/>
          </a:xfrm>
          <a:prstGeom prst="roundRect">
            <a:avLst>
              <a:gd name="adj" fmla="val 25000"/>
            </a:avLst>
          </a:prstGeom>
          <a:solidFill>
            <a:srgbClr val="E4F5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851D4C-C6EC-4BC6-9661-D9CCE8490855}"/>
              </a:ext>
            </a:extLst>
          </p:cNvPr>
          <p:cNvSpPr>
            <a:spLocks noGrp="1"/>
          </p:cNvSpPr>
          <p:nvPr/>
        </p:nvSpPr>
        <p:spPr>
          <a:xfrm>
            <a:off x="4191000" y="4924425"/>
            <a:ext cx="1619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18794E"/>
                </a:solidFill>
              </a:defRPr>
            </a:defPPr>
            <a:lvl1pPr>
              <a:defRPr sz="975" b="1">
                <a:solidFill>
                  <a:srgbClr val="18794E"/>
                </a:solidFill>
              </a:defRPr>
            </a:lvl1pPr>
            <a:lvl2pPr>
              <a:defRPr sz="975" b="1">
                <a:solidFill>
                  <a:srgbClr val="18794E"/>
                </a:solidFill>
              </a:defRPr>
            </a:lvl2pPr>
            <a:lvl3pPr>
              <a:defRPr sz="975" b="1">
                <a:solidFill>
                  <a:srgbClr val="18794E"/>
                </a:solidFill>
              </a:defRPr>
            </a:lvl3pPr>
            <a:lvl4pPr>
              <a:defRPr sz="975" b="1">
                <a:solidFill>
                  <a:srgbClr val="18794E"/>
                </a:solidFill>
              </a:defRPr>
            </a:lvl4pPr>
            <a:lvl5pPr>
              <a:defRPr sz="975" b="1">
                <a:solidFill>
                  <a:srgbClr val="18794E"/>
                </a:solidFill>
              </a:defRPr>
            </a:lvl5pPr>
            <a:lvl6pPr>
              <a:defRPr sz="975" b="1">
                <a:solidFill>
                  <a:srgbClr val="18794E"/>
                </a:solidFill>
              </a:defRPr>
            </a:lvl6pPr>
            <a:lvl7pPr>
              <a:defRPr sz="975" b="1">
                <a:solidFill>
                  <a:srgbClr val="18794E"/>
                </a:solidFill>
              </a:defRPr>
            </a:lvl7pPr>
            <a:lvl8pPr>
              <a:defRPr sz="975" b="1">
                <a:solidFill>
                  <a:srgbClr val="18794E"/>
                </a:solidFill>
              </a:defRPr>
            </a:lvl8pPr>
            <a:lvl9pPr>
              <a:defRPr sz="975" b="1">
                <a:solidFill>
                  <a:srgbClr val="18794E"/>
                </a:solidFill>
              </a:defRPr>
            </a:lvl9pPr>
          </a:lstStyle>
          <a:p>
            <a:pPr>
              <a:defRPr sz="975" b="1">
                <a:solidFill>
                  <a:srgbClr val="18794E"/>
                </a:solidFill>
              </a:defRPr>
            </a:pPr>
            <a:r>
              <a:rPr sz="975" b="1">
                <a:solidFill>
                  <a:srgbClr val="18794E"/>
                </a:solidFill>
              </a:rPr>
              <a:t>引用与公式留痕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21A4897-AB7D-479A-86FC-977D64DE4003}"/>
              </a:ext>
            </a:extLst>
          </p:cNvPr>
          <p:cNvSpPr>
            <a:spLocks noGrp="1"/>
          </p:cNvSpPr>
          <p:nvPr/>
        </p:nvSpPr>
        <p:spPr>
          <a:xfrm>
            <a:off x="6381750" y="4857750"/>
            <a:ext cx="2190750" cy="304800"/>
          </a:xfrm>
          <a:prstGeom prst="roundRect">
            <a:avLst>
              <a:gd name="adj" fmla="val 25000"/>
            </a:avLst>
          </a:prstGeom>
          <a:solidFill>
            <a:srgbClr val="F4F0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A8610C-4104-4C9A-AF12-57E012B15FB9}"/>
              </a:ext>
            </a:extLst>
          </p:cNvPr>
          <p:cNvSpPr>
            <a:spLocks noGrp="1"/>
          </p:cNvSpPr>
          <p:nvPr/>
        </p:nvSpPr>
        <p:spPr>
          <a:xfrm>
            <a:off x="6477000" y="4924425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6B46C1"/>
                </a:solidFill>
              </a:defRPr>
            </a:defPPr>
            <a:lvl1pPr>
              <a:defRPr sz="975" b="1">
                <a:solidFill>
                  <a:srgbClr val="6B46C1"/>
                </a:solidFill>
              </a:defRPr>
            </a:lvl1pPr>
            <a:lvl2pPr>
              <a:defRPr sz="975" b="1">
                <a:solidFill>
                  <a:srgbClr val="6B46C1"/>
                </a:solidFill>
              </a:defRPr>
            </a:lvl2pPr>
            <a:lvl3pPr>
              <a:defRPr sz="975" b="1">
                <a:solidFill>
                  <a:srgbClr val="6B46C1"/>
                </a:solidFill>
              </a:defRPr>
            </a:lvl3pPr>
            <a:lvl4pPr>
              <a:defRPr sz="975" b="1">
                <a:solidFill>
                  <a:srgbClr val="6B46C1"/>
                </a:solidFill>
              </a:defRPr>
            </a:lvl4pPr>
            <a:lvl5pPr>
              <a:defRPr sz="975" b="1">
                <a:solidFill>
                  <a:srgbClr val="6B46C1"/>
                </a:solidFill>
              </a:defRPr>
            </a:lvl5pPr>
            <a:lvl6pPr>
              <a:defRPr sz="975" b="1">
                <a:solidFill>
                  <a:srgbClr val="6B46C1"/>
                </a:solidFill>
              </a:defRPr>
            </a:lvl6pPr>
            <a:lvl7pPr>
              <a:defRPr sz="975" b="1">
                <a:solidFill>
                  <a:srgbClr val="6B46C1"/>
                </a:solidFill>
              </a:defRPr>
            </a:lvl7pPr>
            <a:lvl8pPr>
              <a:defRPr sz="975" b="1">
                <a:solidFill>
                  <a:srgbClr val="6B46C1"/>
                </a:solidFill>
              </a:defRPr>
            </a:lvl8pPr>
            <a:lvl9pPr>
              <a:defRPr sz="975" b="1">
                <a:solidFill>
                  <a:srgbClr val="6B46C1"/>
                </a:solidFill>
              </a:defRPr>
            </a:lvl9pPr>
          </a:lstStyle>
          <a:p>
            <a:pPr>
              <a:defRPr sz="975" b="1">
                <a:solidFill>
                  <a:srgbClr val="6B46C1"/>
                </a:solidFill>
              </a:defRPr>
            </a:pPr>
            <a:r>
              <a:rPr sz="975" b="1">
                <a:solidFill>
                  <a:srgbClr val="6B46C1"/>
                </a:solidFill>
              </a:rPr>
              <a:t>未命中 ≠ 未披露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0F9EE40-949C-4B36-9F32-4E3E34FD19E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1AA3A6-6666-45A1-9156-6F6B3449C518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4120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D883FABA-6561-41F0-8698-E97B4632DE1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06  亮点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9BCA885-0C52-4829-91E2-55A74BDC2FC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项目差异在于证据链，而不只是模型大小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706DA2-88A6-45BA-8856-37BEB21AC2F9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把事实准入、计算、解释和不确定性拆开管理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5112163-1F41-46C5-B081-7F3DEA69239F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685800" cy="495300"/>
          </a:xfrm>
          <a:prstGeom prst="roundRect">
            <a:avLst>
              <a:gd name="adj" fmla="val 15385"/>
            </a:avLst>
          </a:prstGeom>
          <a:solidFill>
            <a:srgbClr val="0F6B78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8CAD0B-7F34-4D4D-A762-78F3971C80FA}"/>
              </a:ext>
            </a:extLst>
          </p:cNvPr>
          <p:cNvSpPr>
            <a:spLocks noGrp="1"/>
          </p:cNvSpPr>
          <p:nvPr/>
        </p:nvSpPr>
        <p:spPr>
          <a:xfrm>
            <a:off x="914400" y="19431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124273-6DE8-4316-8C1C-8D06AEDD2947}"/>
              </a:ext>
            </a:extLst>
          </p:cNvPr>
          <p:cNvSpPr>
            <a:spLocks noGrp="1"/>
          </p:cNvSpPr>
          <p:nvPr/>
        </p:nvSpPr>
        <p:spPr>
          <a:xfrm>
            <a:off x="1866900" y="18573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先自动校验，再做严格计算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2BE766-C140-4FBD-BB6C-21793ECDDFE2}"/>
              </a:ext>
            </a:extLst>
          </p:cNvPr>
          <p:cNvSpPr>
            <a:spLocks noGrp="1"/>
          </p:cNvSpPr>
          <p:nvPr/>
        </p:nvSpPr>
        <p:spPr>
          <a:xfrm>
            <a:off x="1866900" y="2133600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candidate / auto_passed / needs_review / rejected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43D15394-B396-4042-A5E2-2F63CF14A298}"/>
              </a:ext>
            </a:extLst>
          </p:cNvPr>
          <p:cNvSpPr>
            <a:spLocks noGrp="1"/>
          </p:cNvSpPr>
          <p:nvPr/>
        </p:nvSpPr>
        <p:spPr>
          <a:xfrm>
            <a:off x="1866900" y="2428875"/>
            <a:ext cx="870585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62E1276-1437-4E2E-8583-42C615BFFF59}"/>
              </a:ext>
            </a:extLst>
          </p:cNvPr>
          <p:cNvSpPr>
            <a:spLocks noGrp="1"/>
          </p:cNvSpPr>
          <p:nvPr/>
        </p:nvSpPr>
        <p:spPr>
          <a:xfrm>
            <a:off x="914400" y="2552700"/>
            <a:ext cx="685800" cy="495300"/>
          </a:xfrm>
          <a:prstGeom prst="roundRect">
            <a:avLst>
              <a:gd name="adj" fmla="val 15385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6D16841-608E-4525-946E-8B6375E82003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6B78"/>
                </a:solidFill>
              </a:defRPr>
            </a:defPPr>
            <a:lvl1pPr>
              <a:defRPr sz="1350" b="1">
                <a:solidFill>
                  <a:srgbClr val="0F6B78"/>
                </a:solidFill>
              </a:defRPr>
            </a:lvl1pPr>
            <a:lvl2pPr>
              <a:defRPr sz="1350" b="1">
                <a:solidFill>
                  <a:srgbClr val="0F6B78"/>
                </a:solidFill>
              </a:defRPr>
            </a:lvl2pPr>
            <a:lvl3pPr>
              <a:defRPr sz="1350" b="1">
                <a:solidFill>
                  <a:srgbClr val="0F6B78"/>
                </a:solidFill>
              </a:defRPr>
            </a:lvl3pPr>
            <a:lvl4pPr>
              <a:defRPr sz="1350" b="1">
                <a:solidFill>
                  <a:srgbClr val="0F6B78"/>
                </a:solidFill>
              </a:defRPr>
            </a:lvl4pPr>
            <a:lvl5pPr>
              <a:defRPr sz="1350" b="1">
                <a:solidFill>
                  <a:srgbClr val="0F6B78"/>
                </a:solidFill>
              </a:defRPr>
            </a:lvl5pPr>
            <a:lvl6pPr>
              <a:defRPr sz="1350" b="1">
                <a:solidFill>
                  <a:srgbClr val="0F6B78"/>
                </a:solidFill>
              </a:defRPr>
            </a:lvl6pPr>
            <a:lvl7pPr>
              <a:defRPr sz="1350" b="1">
                <a:solidFill>
                  <a:srgbClr val="0F6B78"/>
                </a:solidFill>
              </a:defRPr>
            </a:lvl7pPr>
            <a:lvl8pPr>
              <a:defRPr sz="1350" b="1">
                <a:solidFill>
                  <a:srgbClr val="0F6B78"/>
                </a:solidFill>
              </a:defRPr>
            </a:lvl8pPr>
            <a:lvl9pPr>
              <a:defRPr sz="1350" b="1">
                <a:solidFill>
                  <a:srgbClr val="0F6B78"/>
                </a:solidFill>
              </a:defRPr>
            </a:lvl9pPr>
          </a:lstStyle>
          <a:p>
            <a:pPr>
              <a:defRPr sz="1350" b="1">
                <a:solidFill>
                  <a:srgbClr val="0F6B78"/>
                </a:solidFill>
              </a:defRPr>
            </a:pPr>
            <a:r>
              <a:rPr sz="1350" b="1">
                <a:solidFill>
                  <a:srgbClr val="0F6B78"/>
                </a:solidFill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C2FC2C-3409-484E-9488-4F9623CCDCE3}"/>
              </a:ext>
            </a:extLst>
          </p:cNvPr>
          <p:cNvSpPr>
            <a:spLocks noGrp="1"/>
          </p:cNvSpPr>
          <p:nvPr/>
        </p:nvSpPr>
        <p:spPr>
          <a:xfrm>
            <a:off x="1866900" y="26003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结构化事实与叙述证据分开保存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570E72-3F6A-4569-92FC-CB5BC9974E18}"/>
              </a:ext>
            </a:extLst>
          </p:cNvPr>
          <p:cNvSpPr>
            <a:spLocks noGrp="1"/>
          </p:cNvSpPr>
          <p:nvPr/>
        </p:nvSpPr>
        <p:spPr>
          <a:xfrm>
            <a:off x="1866900" y="2876550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金额、单位、期间、来源和文本块各自可回查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B33830E2-5338-4660-873D-FFE989A2C7D8}"/>
              </a:ext>
            </a:extLst>
          </p:cNvPr>
          <p:cNvSpPr>
            <a:spLocks noGrp="1"/>
          </p:cNvSpPr>
          <p:nvPr/>
        </p:nvSpPr>
        <p:spPr>
          <a:xfrm>
            <a:off x="1866900" y="3171825"/>
            <a:ext cx="870585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5AD2821-5D9A-4D06-BE08-5B3058535800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685800" cy="495300"/>
          </a:xfrm>
          <a:prstGeom prst="roundRect">
            <a:avLst>
              <a:gd name="adj" fmla="val 15385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BC6284-AF54-42DE-9229-2629C5875C17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6B78"/>
                </a:solidFill>
              </a:defRPr>
            </a:defPPr>
            <a:lvl1pPr>
              <a:defRPr sz="1350" b="1">
                <a:solidFill>
                  <a:srgbClr val="0F6B78"/>
                </a:solidFill>
              </a:defRPr>
            </a:lvl1pPr>
            <a:lvl2pPr>
              <a:defRPr sz="1350" b="1">
                <a:solidFill>
                  <a:srgbClr val="0F6B78"/>
                </a:solidFill>
              </a:defRPr>
            </a:lvl2pPr>
            <a:lvl3pPr>
              <a:defRPr sz="1350" b="1">
                <a:solidFill>
                  <a:srgbClr val="0F6B78"/>
                </a:solidFill>
              </a:defRPr>
            </a:lvl3pPr>
            <a:lvl4pPr>
              <a:defRPr sz="1350" b="1">
                <a:solidFill>
                  <a:srgbClr val="0F6B78"/>
                </a:solidFill>
              </a:defRPr>
            </a:lvl4pPr>
            <a:lvl5pPr>
              <a:defRPr sz="1350" b="1">
                <a:solidFill>
                  <a:srgbClr val="0F6B78"/>
                </a:solidFill>
              </a:defRPr>
            </a:lvl5pPr>
            <a:lvl6pPr>
              <a:defRPr sz="1350" b="1">
                <a:solidFill>
                  <a:srgbClr val="0F6B78"/>
                </a:solidFill>
              </a:defRPr>
            </a:lvl6pPr>
            <a:lvl7pPr>
              <a:defRPr sz="1350" b="1">
                <a:solidFill>
                  <a:srgbClr val="0F6B78"/>
                </a:solidFill>
              </a:defRPr>
            </a:lvl7pPr>
            <a:lvl8pPr>
              <a:defRPr sz="1350" b="1">
                <a:solidFill>
                  <a:srgbClr val="0F6B78"/>
                </a:solidFill>
              </a:defRPr>
            </a:lvl8pPr>
            <a:lvl9pPr>
              <a:defRPr sz="1350" b="1">
                <a:solidFill>
                  <a:srgbClr val="0F6B78"/>
                </a:solidFill>
              </a:defRPr>
            </a:lvl9pPr>
          </a:lstStyle>
          <a:p>
            <a:pPr>
              <a:defRPr sz="1350" b="1">
                <a:solidFill>
                  <a:srgbClr val="0F6B78"/>
                </a:solidFill>
              </a:defRPr>
            </a:pPr>
            <a:r>
              <a:rPr sz="1350" b="1">
                <a:solidFill>
                  <a:srgbClr val="0F6B78"/>
                </a:solidFill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9F4E8F-B189-41C6-8893-8C55AC92A5D3}"/>
              </a:ext>
            </a:extLst>
          </p:cNvPr>
          <p:cNvSpPr>
            <a:spLocks noGrp="1"/>
          </p:cNvSpPr>
          <p:nvPr/>
        </p:nvSpPr>
        <p:spPr>
          <a:xfrm>
            <a:off x="1866900" y="33432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按问题取证，而非一次性填满上下文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634810-F4A9-451B-8464-8FD07F3AF2D1}"/>
              </a:ext>
            </a:extLst>
          </p:cNvPr>
          <p:cNvSpPr>
            <a:spLocks noGrp="1"/>
          </p:cNvSpPr>
          <p:nvPr/>
        </p:nvSpPr>
        <p:spPr>
          <a:xfrm>
            <a:off x="1866900" y="3619500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Agent 根据未解决义务调用受控工具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ECDAA72C-1071-4DDF-8412-222B8D4126FF}"/>
              </a:ext>
            </a:extLst>
          </p:cNvPr>
          <p:cNvSpPr>
            <a:spLocks noGrp="1"/>
          </p:cNvSpPr>
          <p:nvPr/>
        </p:nvSpPr>
        <p:spPr>
          <a:xfrm>
            <a:off x="1866900" y="3914775"/>
            <a:ext cx="870585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23D2B05-A468-4E81-98D8-A2820465BA37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685800" cy="495300"/>
          </a:xfrm>
          <a:prstGeom prst="roundRect">
            <a:avLst>
              <a:gd name="adj" fmla="val 15385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6E229B-F879-453C-8318-4675CF0DB508}"/>
              </a:ext>
            </a:extLst>
          </p:cNvPr>
          <p:cNvSpPr>
            <a:spLocks noGrp="1"/>
          </p:cNvSpPr>
          <p:nvPr/>
        </p:nvSpPr>
        <p:spPr>
          <a:xfrm>
            <a:off x="914400" y="41719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6B78"/>
                </a:solidFill>
              </a:defRPr>
            </a:defPPr>
            <a:lvl1pPr>
              <a:defRPr sz="1350" b="1">
                <a:solidFill>
                  <a:srgbClr val="0F6B78"/>
                </a:solidFill>
              </a:defRPr>
            </a:lvl1pPr>
            <a:lvl2pPr>
              <a:defRPr sz="1350" b="1">
                <a:solidFill>
                  <a:srgbClr val="0F6B78"/>
                </a:solidFill>
              </a:defRPr>
            </a:lvl2pPr>
            <a:lvl3pPr>
              <a:defRPr sz="1350" b="1">
                <a:solidFill>
                  <a:srgbClr val="0F6B78"/>
                </a:solidFill>
              </a:defRPr>
            </a:lvl3pPr>
            <a:lvl4pPr>
              <a:defRPr sz="1350" b="1">
                <a:solidFill>
                  <a:srgbClr val="0F6B78"/>
                </a:solidFill>
              </a:defRPr>
            </a:lvl4pPr>
            <a:lvl5pPr>
              <a:defRPr sz="1350" b="1">
                <a:solidFill>
                  <a:srgbClr val="0F6B78"/>
                </a:solidFill>
              </a:defRPr>
            </a:lvl5pPr>
            <a:lvl6pPr>
              <a:defRPr sz="1350" b="1">
                <a:solidFill>
                  <a:srgbClr val="0F6B78"/>
                </a:solidFill>
              </a:defRPr>
            </a:lvl6pPr>
            <a:lvl7pPr>
              <a:defRPr sz="1350" b="1">
                <a:solidFill>
                  <a:srgbClr val="0F6B78"/>
                </a:solidFill>
              </a:defRPr>
            </a:lvl7pPr>
            <a:lvl8pPr>
              <a:defRPr sz="1350" b="1">
                <a:solidFill>
                  <a:srgbClr val="0F6B78"/>
                </a:solidFill>
              </a:defRPr>
            </a:lvl8pPr>
            <a:lvl9pPr>
              <a:defRPr sz="1350" b="1">
                <a:solidFill>
                  <a:srgbClr val="0F6B78"/>
                </a:solidFill>
              </a:defRPr>
            </a:lvl9pPr>
          </a:lstStyle>
          <a:p>
            <a:pPr>
              <a:defRPr sz="1350" b="1">
                <a:solidFill>
                  <a:srgbClr val="0F6B78"/>
                </a:solidFill>
              </a:defRPr>
            </a:pPr>
            <a:r>
              <a:rPr sz="1350" b="1">
                <a:solidFill>
                  <a:srgbClr val="0F6B78"/>
                </a:solidFill>
              </a:rPr>
              <a:t>04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8F40EB-817F-45B1-99E4-E84D6AF36227}"/>
              </a:ext>
            </a:extLst>
          </p:cNvPr>
          <p:cNvSpPr>
            <a:spLocks noGrp="1"/>
          </p:cNvSpPr>
          <p:nvPr/>
        </p:nvSpPr>
        <p:spPr>
          <a:xfrm>
            <a:off x="1866900" y="408622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把不确定性作为正式结果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9576C5-9D68-4282-A14B-17D9EF8AB294}"/>
              </a:ext>
            </a:extLst>
          </p:cNvPr>
          <p:cNvSpPr>
            <a:spLocks noGrp="1"/>
          </p:cNvSpPr>
          <p:nvPr/>
        </p:nvSpPr>
        <p:spPr>
          <a:xfrm>
            <a:off x="1866900" y="4362450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证据不足、待校验和补件请求不会被压成结论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D3359CBF-7D6A-4171-94BC-754F194D0369}"/>
              </a:ext>
            </a:extLst>
          </p:cNvPr>
          <p:cNvSpPr>
            <a:spLocks noGrp="1"/>
          </p:cNvSpPr>
          <p:nvPr/>
        </p:nvSpPr>
        <p:spPr>
          <a:xfrm>
            <a:off x="1866900" y="4657725"/>
            <a:ext cx="870585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FB2E58D-024D-4A49-8061-B2DEBB46CE71}"/>
              </a:ext>
            </a:extLst>
          </p:cNvPr>
          <p:cNvSpPr>
            <a:spLocks noGrp="1"/>
          </p:cNvSpPr>
          <p:nvPr/>
        </p:nvSpPr>
        <p:spPr>
          <a:xfrm>
            <a:off x="914400" y="4781550"/>
            <a:ext cx="685800" cy="495300"/>
          </a:xfrm>
          <a:prstGeom prst="roundRect">
            <a:avLst>
              <a:gd name="adj" fmla="val 15385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DC216DC-CB7B-45C8-B166-0552CBD08421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6B78"/>
                </a:solidFill>
              </a:defRPr>
            </a:defPPr>
            <a:lvl1pPr>
              <a:defRPr sz="1350" b="1">
                <a:solidFill>
                  <a:srgbClr val="0F6B78"/>
                </a:solidFill>
              </a:defRPr>
            </a:lvl1pPr>
            <a:lvl2pPr>
              <a:defRPr sz="1350" b="1">
                <a:solidFill>
                  <a:srgbClr val="0F6B78"/>
                </a:solidFill>
              </a:defRPr>
            </a:lvl2pPr>
            <a:lvl3pPr>
              <a:defRPr sz="1350" b="1">
                <a:solidFill>
                  <a:srgbClr val="0F6B78"/>
                </a:solidFill>
              </a:defRPr>
            </a:lvl3pPr>
            <a:lvl4pPr>
              <a:defRPr sz="1350" b="1">
                <a:solidFill>
                  <a:srgbClr val="0F6B78"/>
                </a:solidFill>
              </a:defRPr>
            </a:lvl4pPr>
            <a:lvl5pPr>
              <a:defRPr sz="1350" b="1">
                <a:solidFill>
                  <a:srgbClr val="0F6B78"/>
                </a:solidFill>
              </a:defRPr>
            </a:lvl5pPr>
            <a:lvl6pPr>
              <a:defRPr sz="1350" b="1">
                <a:solidFill>
                  <a:srgbClr val="0F6B78"/>
                </a:solidFill>
              </a:defRPr>
            </a:lvl6pPr>
            <a:lvl7pPr>
              <a:defRPr sz="1350" b="1">
                <a:solidFill>
                  <a:srgbClr val="0F6B78"/>
                </a:solidFill>
              </a:defRPr>
            </a:lvl7pPr>
            <a:lvl8pPr>
              <a:defRPr sz="1350" b="1">
                <a:solidFill>
                  <a:srgbClr val="0F6B78"/>
                </a:solidFill>
              </a:defRPr>
            </a:lvl8pPr>
            <a:lvl9pPr>
              <a:defRPr sz="1350" b="1">
                <a:solidFill>
                  <a:srgbClr val="0F6B78"/>
                </a:solidFill>
              </a:defRPr>
            </a:lvl9pPr>
          </a:lstStyle>
          <a:p>
            <a:pPr>
              <a:defRPr sz="1350" b="1">
                <a:solidFill>
                  <a:srgbClr val="0F6B78"/>
                </a:solidFill>
              </a:defRPr>
            </a:pPr>
            <a:r>
              <a:rPr sz="1350" b="1">
                <a:solidFill>
                  <a:srgbClr val="0F6B78"/>
                </a:solidFill>
              </a:rPr>
              <a:t>05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8A7778-3F4A-4CB3-BFB9-D997E4752AF6}"/>
              </a:ext>
            </a:extLst>
          </p:cNvPr>
          <p:cNvSpPr>
            <a:spLocks noGrp="1"/>
          </p:cNvSpPr>
          <p:nvPr/>
        </p:nvSpPr>
        <p:spPr>
          <a:xfrm>
            <a:off x="1866900" y="4829175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冻结输入与响应，支持离线回放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DF5EC7-D3FC-4903-BF8A-F983DFB22FAA}"/>
              </a:ext>
            </a:extLst>
          </p:cNvPr>
          <p:cNvSpPr>
            <a:spLocks noGrp="1"/>
          </p:cNvSpPr>
          <p:nvPr/>
        </p:nvSpPr>
        <p:spPr>
          <a:xfrm>
            <a:off x="1866900" y="5105400"/>
            <a:ext cx="809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程序确定性可验证，外部模型新调用不作过度承诺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4C76ACE-3A8C-442F-8A35-E51FFCCFCA9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A5A7E7-9EFE-417B-88DC-FE2D93EAA1F2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4832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1CF17A3-45F7-40C8-8398-A56E6AE0724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07  基线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65C038-EF1E-48F1-999E-A2EF90682886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有限实验已经验证流程能运行，但没有外推准确率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DE2A0E-5A31-40B5-A7B0-3CAD76DFBD6A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所有数字都绑定固定配置、选定页面或冻结输入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7EC8663-5A1A-46C5-AB06-7997AC79950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2266950" cy="1695450"/>
          </a:xfrm>
          <a:prstGeom prst="roundRect">
            <a:avLst>
              <a:gd name="adj" fmla="val 4494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795D4F8-C7A6-44EA-8EE7-72583F44D0DB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1924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F6B78"/>
                </a:solidFill>
              </a:defRPr>
            </a:defPPr>
            <a:lvl1pPr>
              <a:defRPr sz="2400" b="1">
                <a:solidFill>
                  <a:srgbClr val="0F6B78"/>
                </a:solidFill>
              </a:defRPr>
            </a:lvl1pPr>
            <a:lvl2pPr>
              <a:defRPr sz="2400" b="1">
                <a:solidFill>
                  <a:srgbClr val="0F6B78"/>
                </a:solidFill>
              </a:defRPr>
            </a:lvl2pPr>
            <a:lvl3pPr>
              <a:defRPr sz="2400" b="1">
                <a:solidFill>
                  <a:srgbClr val="0F6B78"/>
                </a:solidFill>
              </a:defRPr>
            </a:lvl3pPr>
            <a:lvl4pPr>
              <a:defRPr sz="2400" b="1">
                <a:solidFill>
                  <a:srgbClr val="0F6B78"/>
                </a:solidFill>
              </a:defRPr>
            </a:lvl4pPr>
            <a:lvl5pPr>
              <a:defRPr sz="2400" b="1">
                <a:solidFill>
                  <a:srgbClr val="0F6B78"/>
                </a:solidFill>
              </a:defRPr>
            </a:lvl5pPr>
            <a:lvl6pPr>
              <a:defRPr sz="2400" b="1">
                <a:solidFill>
                  <a:srgbClr val="0F6B78"/>
                </a:solidFill>
              </a:defRPr>
            </a:lvl6pPr>
            <a:lvl7pPr>
              <a:defRPr sz="2400" b="1">
                <a:solidFill>
                  <a:srgbClr val="0F6B78"/>
                </a:solidFill>
              </a:defRPr>
            </a:lvl7pPr>
            <a:lvl8pPr>
              <a:defRPr sz="2400" b="1">
                <a:solidFill>
                  <a:srgbClr val="0F6B78"/>
                </a:solidFill>
              </a:defRPr>
            </a:lvl8pPr>
            <a:lvl9pPr>
              <a:defRPr sz="2400" b="1">
                <a:solidFill>
                  <a:srgbClr val="0F6B78"/>
                </a:solidFill>
              </a:defRPr>
            </a:lvl9pPr>
          </a:lstStyle>
          <a:p>
            <a:pPr>
              <a:defRPr sz="2400" b="1">
                <a:solidFill>
                  <a:srgbClr val="0F6B78"/>
                </a:solidFill>
              </a:defRPr>
            </a:pPr>
            <a:r>
              <a:rPr sz="2400" b="1">
                <a:solidFill>
                  <a:srgbClr val="0F6B78"/>
                </a:solidFill>
              </a:rPr>
              <a:t>810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162B35-B346-491B-A386-93C2693ECC75}"/>
              </a:ext>
            </a:extLst>
          </p:cNvPr>
          <p:cNvSpPr>
            <a:spLocks noGrp="1"/>
          </p:cNvSpPr>
          <p:nvPr/>
        </p:nvSpPr>
        <p:spPr>
          <a:xfrm>
            <a:off x="781050" y="2743200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软件行为测试通过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0E9D4C-6BF3-423A-86DB-920EA8435259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不是财报准确率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D6E1A78-6D3A-4576-929A-BD3DFB3C80C7}"/>
              </a:ext>
            </a:extLst>
          </p:cNvPr>
          <p:cNvSpPr>
            <a:spLocks noGrp="1"/>
          </p:cNvSpPr>
          <p:nvPr/>
        </p:nvSpPr>
        <p:spPr>
          <a:xfrm>
            <a:off x="3181350" y="2000250"/>
            <a:ext cx="2266950" cy="1695450"/>
          </a:xfrm>
          <a:prstGeom prst="roundRect">
            <a:avLst>
              <a:gd name="adj" fmla="val 4494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F04B13-B4DA-4CC3-BEA4-0A1CF35E84DE}"/>
              </a:ext>
            </a:extLst>
          </p:cNvPr>
          <p:cNvSpPr>
            <a:spLocks noGrp="1"/>
          </p:cNvSpPr>
          <p:nvPr/>
        </p:nvSpPr>
        <p:spPr>
          <a:xfrm>
            <a:off x="3352800" y="2190750"/>
            <a:ext cx="1924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D97706"/>
                </a:solidFill>
              </a:defRPr>
            </a:defPPr>
            <a:lvl1pPr>
              <a:defRPr sz="2400" b="1">
                <a:solidFill>
                  <a:srgbClr val="D97706"/>
                </a:solidFill>
              </a:defRPr>
            </a:lvl1pPr>
            <a:lvl2pPr>
              <a:defRPr sz="2400" b="1">
                <a:solidFill>
                  <a:srgbClr val="D97706"/>
                </a:solidFill>
              </a:defRPr>
            </a:lvl2pPr>
            <a:lvl3pPr>
              <a:defRPr sz="2400" b="1">
                <a:solidFill>
                  <a:srgbClr val="D97706"/>
                </a:solidFill>
              </a:defRPr>
            </a:lvl3pPr>
            <a:lvl4pPr>
              <a:defRPr sz="2400" b="1">
                <a:solidFill>
                  <a:srgbClr val="D97706"/>
                </a:solidFill>
              </a:defRPr>
            </a:lvl4pPr>
            <a:lvl5pPr>
              <a:defRPr sz="2400" b="1">
                <a:solidFill>
                  <a:srgbClr val="D97706"/>
                </a:solidFill>
              </a:defRPr>
            </a:lvl5pPr>
            <a:lvl6pPr>
              <a:defRPr sz="2400" b="1">
                <a:solidFill>
                  <a:srgbClr val="D97706"/>
                </a:solidFill>
              </a:defRPr>
            </a:lvl6pPr>
            <a:lvl7pPr>
              <a:defRPr sz="2400" b="1">
                <a:solidFill>
                  <a:srgbClr val="D97706"/>
                </a:solidFill>
              </a:defRPr>
            </a:lvl7pPr>
            <a:lvl8pPr>
              <a:defRPr sz="2400" b="1">
                <a:solidFill>
                  <a:srgbClr val="D97706"/>
                </a:solidFill>
              </a:defRPr>
            </a:lvl8pPr>
            <a:lvl9pPr>
              <a:defRPr sz="2400" b="1">
                <a:solidFill>
                  <a:srgbClr val="D97706"/>
                </a:solidFill>
              </a:defRPr>
            </a:lvl9pPr>
          </a:lstStyle>
          <a:p>
            <a:pPr>
              <a:defRPr sz="2400" b="1">
                <a:solidFill>
                  <a:srgbClr val="D97706"/>
                </a:solidFill>
              </a:defRPr>
            </a:pPr>
            <a:r>
              <a:rPr sz="2400" b="1">
                <a:solidFill>
                  <a:srgbClr val="D97706"/>
                </a:solidFill>
              </a:rPr>
              <a:t>20 / 70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3DF35B-E3C0-4B9B-A304-E456E32CB459}"/>
              </a:ext>
            </a:extLst>
          </p:cNvPr>
          <p:cNvSpPr>
            <a:spLocks noGrp="1"/>
          </p:cNvSpPr>
          <p:nvPr/>
        </p:nvSpPr>
        <p:spPr>
          <a:xfrm>
            <a:off x="3352800" y="2743200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Unlimited-OCR 金额单元格对照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BF3FF1-60FE-4D3B-8325-C18960DF9A06}"/>
              </a:ext>
            </a:extLst>
          </p:cNvPr>
          <p:cNvSpPr>
            <a:spLocks noGrp="1"/>
          </p:cNvSpPr>
          <p:nvPr/>
        </p:nvSpPr>
        <p:spPr>
          <a:xfrm>
            <a:off x="3352800" y="32194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比亚迪 Q1 第 2、7 页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18FA1B7-B2B4-4F98-BBC8-512E8D02DF70}"/>
              </a:ext>
            </a:extLst>
          </p:cNvPr>
          <p:cNvSpPr>
            <a:spLocks noGrp="1"/>
          </p:cNvSpPr>
          <p:nvPr/>
        </p:nvSpPr>
        <p:spPr>
          <a:xfrm>
            <a:off x="5753100" y="2000250"/>
            <a:ext cx="2266950" cy="1695450"/>
          </a:xfrm>
          <a:prstGeom prst="roundRect">
            <a:avLst>
              <a:gd name="adj" fmla="val 4494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C6764D-CD38-4C79-BB40-0F426A45C9BD}"/>
              </a:ext>
            </a:extLst>
          </p:cNvPr>
          <p:cNvSpPr>
            <a:spLocks noGrp="1"/>
          </p:cNvSpPr>
          <p:nvPr/>
        </p:nvSpPr>
        <p:spPr>
          <a:xfrm>
            <a:off x="5924550" y="2190750"/>
            <a:ext cx="1924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6B46C1"/>
                </a:solidFill>
              </a:defRPr>
            </a:defPPr>
            <a:lvl1pPr>
              <a:defRPr sz="2400" b="1">
                <a:solidFill>
                  <a:srgbClr val="6B46C1"/>
                </a:solidFill>
              </a:defRPr>
            </a:lvl1pPr>
            <a:lvl2pPr>
              <a:defRPr sz="2400" b="1">
                <a:solidFill>
                  <a:srgbClr val="6B46C1"/>
                </a:solidFill>
              </a:defRPr>
            </a:lvl2pPr>
            <a:lvl3pPr>
              <a:defRPr sz="2400" b="1">
                <a:solidFill>
                  <a:srgbClr val="6B46C1"/>
                </a:solidFill>
              </a:defRPr>
            </a:lvl3pPr>
            <a:lvl4pPr>
              <a:defRPr sz="2400" b="1">
                <a:solidFill>
                  <a:srgbClr val="6B46C1"/>
                </a:solidFill>
              </a:defRPr>
            </a:lvl4pPr>
            <a:lvl5pPr>
              <a:defRPr sz="2400" b="1">
                <a:solidFill>
                  <a:srgbClr val="6B46C1"/>
                </a:solidFill>
              </a:defRPr>
            </a:lvl5pPr>
            <a:lvl6pPr>
              <a:defRPr sz="2400" b="1">
                <a:solidFill>
                  <a:srgbClr val="6B46C1"/>
                </a:solidFill>
              </a:defRPr>
            </a:lvl6pPr>
            <a:lvl7pPr>
              <a:defRPr sz="2400" b="1">
                <a:solidFill>
                  <a:srgbClr val="6B46C1"/>
                </a:solidFill>
              </a:defRPr>
            </a:lvl7pPr>
            <a:lvl8pPr>
              <a:defRPr sz="2400" b="1">
                <a:solidFill>
                  <a:srgbClr val="6B46C1"/>
                </a:solidFill>
              </a:defRPr>
            </a:lvl8pPr>
            <a:lvl9pPr>
              <a:defRPr sz="2400" b="1">
                <a:solidFill>
                  <a:srgbClr val="6B46C1"/>
                </a:solidFill>
              </a:defRPr>
            </a:lvl9pPr>
          </a:lstStyle>
          <a:p>
            <a:pPr>
              <a:defRPr sz="2400" b="1">
                <a:solidFill>
                  <a:srgbClr val="6B46C1"/>
                </a:solidFill>
              </a:defRPr>
            </a:pPr>
            <a:r>
              <a:rPr sz="2400" b="1">
                <a:solidFill>
                  <a:srgbClr val="6B46C1"/>
                </a:solidFill>
              </a:rPr>
              <a:t>4 版本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514FD8-DDA3-46F8-BC4C-EADA8F5DEB0B}"/>
              </a:ext>
            </a:extLst>
          </p:cNvPr>
          <p:cNvSpPr>
            <a:spLocks noGrp="1"/>
          </p:cNvSpPr>
          <p:nvPr/>
        </p:nvSpPr>
        <p:spPr>
          <a:xfrm>
            <a:off x="5924550" y="2743200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Qdrant / Docling 选页链路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B2AB6A-47DE-4727-B3FC-51B3A1BF4569}"/>
              </a:ext>
            </a:extLst>
          </p:cNvPr>
          <p:cNvSpPr>
            <a:spLocks noGrp="1"/>
          </p:cNvSpPr>
          <p:nvPr/>
        </p:nvSpPr>
        <p:spPr>
          <a:xfrm>
            <a:off x="5924550" y="32194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转换、过滤和重复索引可运行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8ACFB84-C7F9-4EE0-9B52-D99CDC6DA359}"/>
              </a:ext>
            </a:extLst>
          </p:cNvPr>
          <p:cNvSpPr>
            <a:spLocks noGrp="1"/>
          </p:cNvSpPr>
          <p:nvPr/>
        </p:nvSpPr>
        <p:spPr>
          <a:xfrm>
            <a:off x="8324850" y="2000250"/>
            <a:ext cx="2266950" cy="1695450"/>
          </a:xfrm>
          <a:prstGeom prst="roundRect">
            <a:avLst>
              <a:gd name="adj" fmla="val 4494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748D77-D501-4668-BA8E-8AF4D582CB1E}"/>
              </a:ext>
            </a:extLst>
          </p:cNvPr>
          <p:cNvSpPr>
            <a:spLocks noGrp="1"/>
          </p:cNvSpPr>
          <p:nvPr/>
        </p:nvSpPr>
        <p:spPr>
          <a:xfrm>
            <a:off x="8496300" y="2190750"/>
            <a:ext cx="1924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8794E"/>
                </a:solidFill>
              </a:defRPr>
            </a:defPPr>
            <a:lvl1pPr>
              <a:defRPr sz="2400" b="1">
                <a:solidFill>
                  <a:srgbClr val="18794E"/>
                </a:solidFill>
              </a:defRPr>
            </a:lvl1pPr>
            <a:lvl2pPr>
              <a:defRPr sz="2400" b="1">
                <a:solidFill>
                  <a:srgbClr val="18794E"/>
                </a:solidFill>
              </a:defRPr>
            </a:lvl2pPr>
            <a:lvl3pPr>
              <a:defRPr sz="2400" b="1">
                <a:solidFill>
                  <a:srgbClr val="18794E"/>
                </a:solidFill>
              </a:defRPr>
            </a:lvl3pPr>
            <a:lvl4pPr>
              <a:defRPr sz="2400" b="1">
                <a:solidFill>
                  <a:srgbClr val="18794E"/>
                </a:solidFill>
              </a:defRPr>
            </a:lvl4pPr>
            <a:lvl5pPr>
              <a:defRPr sz="2400" b="1">
                <a:solidFill>
                  <a:srgbClr val="18794E"/>
                </a:solidFill>
              </a:defRPr>
            </a:lvl5pPr>
            <a:lvl6pPr>
              <a:defRPr sz="2400" b="1">
                <a:solidFill>
                  <a:srgbClr val="18794E"/>
                </a:solidFill>
              </a:defRPr>
            </a:lvl6pPr>
            <a:lvl7pPr>
              <a:defRPr sz="2400" b="1">
                <a:solidFill>
                  <a:srgbClr val="18794E"/>
                </a:solidFill>
              </a:defRPr>
            </a:lvl7pPr>
            <a:lvl8pPr>
              <a:defRPr sz="2400" b="1">
                <a:solidFill>
                  <a:srgbClr val="18794E"/>
                </a:solidFill>
              </a:defRPr>
            </a:lvl8pPr>
            <a:lvl9pPr>
              <a:defRPr sz="2400" b="1">
                <a:solidFill>
                  <a:srgbClr val="18794E"/>
                </a:solidFill>
              </a:defRPr>
            </a:lvl9pPr>
          </a:lstStyle>
          <a:p>
            <a:pPr>
              <a:defRPr sz="2400" b="1">
                <a:solidFill>
                  <a:srgbClr val="18794E"/>
                </a:solidFill>
              </a:defRPr>
            </a:pPr>
            <a:r>
              <a:rPr sz="2400" b="1">
                <a:solidFill>
                  <a:srgbClr val="18794E"/>
                </a:solidFill>
              </a:rPr>
              <a:t>3 + 5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DB29CA-DA72-4CDC-A195-8513BD866574}"/>
              </a:ext>
            </a:extLst>
          </p:cNvPr>
          <p:cNvSpPr>
            <a:spLocks noGrp="1"/>
          </p:cNvSpPr>
          <p:nvPr/>
        </p:nvSpPr>
        <p:spPr>
          <a:xfrm>
            <a:off x="8496300" y="2743200"/>
            <a:ext cx="1924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H1 八项子命题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74378E-5674-4AF9-AD0C-3D23C1255D03}"/>
              </a:ext>
            </a:extLst>
          </p:cNvPr>
          <p:cNvSpPr>
            <a:spLocks noGrp="1"/>
          </p:cNvSpPr>
          <p:nvPr/>
        </p:nvSpPr>
        <p:spPr>
          <a:xfrm>
            <a:off x="8496300" y="32194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>
                <a:solidFill>
                  <a:srgbClr val="52606D"/>
                </a:solidFill>
              </a:defRPr>
            </a:defPPr>
            <a:lvl1pPr>
              <a:defRPr sz="975">
                <a:solidFill>
                  <a:srgbClr val="52606D"/>
                </a:solidFill>
              </a:defRPr>
            </a:lvl1pPr>
            <a:lvl2pPr>
              <a:defRPr sz="975">
                <a:solidFill>
                  <a:srgbClr val="52606D"/>
                </a:solidFill>
              </a:defRPr>
            </a:lvl2pPr>
            <a:lvl3pPr>
              <a:defRPr sz="975">
                <a:solidFill>
                  <a:srgbClr val="52606D"/>
                </a:solidFill>
              </a:defRPr>
            </a:lvl3pPr>
            <a:lvl4pPr>
              <a:defRPr sz="975">
                <a:solidFill>
                  <a:srgbClr val="52606D"/>
                </a:solidFill>
              </a:defRPr>
            </a:lvl4pPr>
            <a:lvl5pPr>
              <a:defRPr sz="975">
                <a:solidFill>
                  <a:srgbClr val="52606D"/>
                </a:solidFill>
              </a:defRPr>
            </a:lvl5pPr>
            <a:lvl6pPr>
              <a:defRPr sz="975">
                <a:solidFill>
                  <a:srgbClr val="52606D"/>
                </a:solidFill>
              </a:defRPr>
            </a:lvl6pPr>
            <a:lvl7pPr>
              <a:defRPr sz="975">
                <a:solidFill>
                  <a:srgbClr val="52606D"/>
                </a:solidFill>
              </a:defRPr>
            </a:lvl7pPr>
            <a:lvl8pPr>
              <a:defRPr sz="975">
                <a:solidFill>
                  <a:srgbClr val="52606D"/>
                </a:solidFill>
              </a:defRPr>
            </a:lvl8pPr>
            <a:lvl9pPr>
              <a:defRPr sz="975">
                <a:solidFill>
                  <a:srgbClr val="52606D"/>
                </a:solidFill>
              </a:defRPr>
            </a:lvl9pPr>
          </a:lstStyle>
          <a:p>
            <a:pPr>
              <a:defRPr sz="975">
                <a:solidFill>
                  <a:srgbClr val="52606D"/>
                </a:solidFill>
              </a:defRPr>
            </a:pPr>
            <a:r>
              <a:rPr sz="975">
                <a:solidFill>
                  <a:srgbClr val="52606D"/>
                </a:solidFill>
              </a:rPr>
              <a:t>3 项待校验候选，5 项证据不足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DF44EFF-C7CE-4FD3-A063-76B3D5D8FA7F}"/>
              </a:ext>
            </a:extLst>
          </p:cNvPr>
          <p:cNvSpPr>
            <a:spLocks noGrp="1"/>
          </p:cNvSpPr>
          <p:nvPr/>
        </p:nvSpPr>
        <p:spPr>
          <a:xfrm>
            <a:off x="1333500" y="4343400"/>
            <a:ext cx="8763000" cy="838200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55821E1-C078-47A5-BAA6-160C13D82BA6}"/>
              </a:ext>
            </a:extLst>
          </p:cNvPr>
          <p:cNvSpPr>
            <a:spLocks noGrp="1"/>
          </p:cNvSpPr>
          <p:nvPr/>
        </p:nvSpPr>
        <p:spPr>
          <a:xfrm>
            <a:off x="1638300" y="4572000"/>
            <a:ext cx="8153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冻结响应离线回放：两次结果哈希一致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1743D2-AF74-44C9-A758-DAAF73E1C774}"/>
              </a:ext>
            </a:extLst>
          </p:cNvPr>
          <p:cNvSpPr>
            <a:spLocks noGrp="1"/>
          </p:cNvSpPr>
          <p:nvPr/>
        </p:nvSpPr>
        <p:spPr>
          <a:xfrm>
            <a:off x="1143000" y="56007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52606D"/>
                </a:solidFill>
              </a:defRPr>
            </a:defPPr>
            <a:lvl1pPr>
              <a:defRPr sz="1200">
                <a:solidFill>
                  <a:srgbClr val="52606D"/>
                </a:solidFill>
              </a:defRPr>
            </a:lvl1pPr>
            <a:lvl2pPr>
              <a:defRPr sz="1200">
                <a:solidFill>
                  <a:srgbClr val="52606D"/>
                </a:solidFill>
              </a:defRPr>
            </a:lvl2pPr>
            <a:lvl3pPr>
              <a:defRPr sz="1200">
                <a:solidFill>
                  <a:srgbClr val="52606D"/>
                </a:solidFill>
              </a:defRPr>
            </a:lvl3pPr>
            <a:lvl4pPr>
              <a:defRPr sz="1200">
                <a:solidFill>
                  <a:srgbClr val="52606D"/>
                </a:solidFill>
              </a:defRPr>
            </a:lvl4pPr>
            <a:lvl5pPr>
              <a:defRPr sz="1200">
                <a:solidFill>
                  <a:srgbClr val="52606D"/>
                </a:solidFill>
              </a:defRPr>
            </a:lvl5pPr>
            <a:lvl6pPr>
              <a:defRPr sz="1200">
                <a:solidFill>
                  <a:srgbClr val="52606D"/>
                </a:solidFill>
              </a:defRPr>
            </a:lvl6pPr>
            <a:lvl7pPr>
              <a:defRPr sz="1200">
                <a:solidFill>
                  <a:srgbClr val="52606D"/>
                </a:solidFill>
              </a:defRPr>
            </a:lvl7pPr>
            <a:lvl8pPr>
              <a:defRPr sz="1200">
                <a:solidFill>
                  <a:srgbClr val="52606D"/>
                </a:solidFill>
              </a:defRPr>
            </a:lvl8pPr>
            <a:lvl9pPr>
              <a:defRPr sz="1200">
                <a:solidFill>
                  <a:srgbClr val="52606D"/>
                </a:solidFill>
              </a:defRPr>
            </a:lvl9pPr>
          </a:lstStyle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当前证据只支持选定页面和冻结输入，不外推全文、多发行人、CPU 或生产稳定性。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F2BAAAD-CF10-47CD-96FA-5E24D7AD438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3DC7CA7-F27D-45F4-87CB-CB2C25413B1D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19474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E4A8090-9305-4123-B4CE-90A26A93D93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08  差距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ABD4C0-BB29-4BDA-A8BA-1C794B54CBE2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下一阶段要补齐可检查的评测包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2522A2-762E-485F-8830-599B34BCC9E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研发重点是覆盖、误差归因和复现，不是继续堆叠演示页面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D24ABCD-93D2-4C2A-BC3F-2E33354B10C0}"/>
              </a:ext>
            </a:extLst>
          </p:cNvPr>
          <p:cNvSpPr>
            <a:spLocks noGrp="1"/>
          </p:cNvSpPr>
          <p:nvPr/>
        </p:nvSpPr>
        <p:spPr>
          <a:xfrm>
            <a:off x="990600" y="1714500"/>
            <a:ext cx="2190750" cy="419100"/>
          </a:xfrm>
          <a:prstGeom prst="roundRect">
            <a:avLst>
              <a:gd name="adj" fmla="val 18182"/>
            </a:avLst>
          </a:prstGeom>
          <a:solidFill>
            <a:srgbClr val="D9F0F2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5BB3B8-02AE-41AC-A583-33C27309269C}"/>
              </a:ext>
            </a:extLst>
          </p:cNvPr>
          <p:cNvSpPr>
            <a:spLocks noGrp="1"/>
          </p:cNvSpPr>
          <p:nvPr/>
        </p:nvSpPr>
        <p:spPr>
          <a:xfrm>
            <a:off x="1162050" y="1819275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全文覆盖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D7669F-637A-4B3C-81C4-7A11D19364C1}"/>
              </a:ext>
            </a:extLst>
          </p:cNvPr>
          <p:cNvSpPr>
            <a:spLocks noGrp="1"/>
          </p:cNvSpPr>
          <p:nvPr/>
        </p:nvSpPr>
        <p:spPr>
          <a:xfrm>
            <a:off x="3524250" y="18192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52606D"/>
                </a:solidFill>
              </a:defRPr>
            </a:defPPr>
            <a:lvl1pPr>
              <a:defRPr sz="1200">
                <a:solidFill>
                  <a:srgbClr val="52606D"/>
                </a:solidFill>
              </a:defRPr>
            </a:lvl1pPr>
            <a:lvl2pPr>
              <a:defRPr sz="1200">
                <a:solidFill>
                  <a:srgbClr val="52606D"/>
                </a:solidFill>
              </a:defRPr>
            </a:lvl2pPr>
            <a:lvl3pPr>
              <a:defRPr sz="1200">
                <a:solidFill>
                  <a:srgbClr val="52606D"/>
                </a:solidFill>
              </a:defRPr>
            </a:lvl3pPr>
            <a:lvl4pPr>
              <a:defRPr sz="1200">
                <a:solidFill>
                  <a:srgbClr val="52606D"/>
                </a:solidFill>
              </a:defRPr>
            </a:lvl4pPr>
            <a:lvl5pPr>
              <a:defRPr sz="1200">
                <a:solidFill>
                  <a:srgbClr val="52606D"/>
                </a:solidFill>
              </a:defRPr>
            </a:lvl5pPr>
            <a:lvl6pPr>
              <a:defRPr sz="1200">
                <a:solidFill>
                  <a:srgbClr val="52606D"/>
                </a:solidFill>
              </a:defRPr>
            </a:lvl6pPr>
            <a:lvl7pPr>
              <a:defRPr sz="1200">
                <a:solidFill>
                  <a:srgbClr val="52606D"/>
                </a:solidFill>
              </a:defRPr>
            </a:lvl7pPr>
            <a:lvl8pPr>
              <a:defRPr sz="1200">
                <a:solidFill>
                  <a:srgbClr val="52606D"/>
                </a:solidFill>
              </a:defRPr>
            </a:lvl8pPr>
            <a:lvl9pPr>
              <a:defRPr sz="1200">
                <a:solidFill>
                  <a:srgbClr val="52606D"/>
                </a:solidFill>
              </a:defRPr>
            </a:lvl9pPr>
          </a:lstStyle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选页验证不能证明整份报告未披露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4CDCD8E-AB93-425D-AE04-0C8F0A719538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190750" cy="419100"/>
          </a:xfrm>
          <a:prstGeom prst="roundRect">
            <a:avLst>
              <a:gd name="adj" fmla="val 18182"/>
            </a:avLst>
          </a:prstGeom>
          <a:solidFill>
            <a:srgbClr val="D9F0F2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6E57A0-4BD8-44E8-8E5E-60B9F1477AFA}"/>
              </a:ext>
            </a:extLst>
          </p:cNvPr>
          <p:cNvSpPr>
            <a:spLocks noGrp="1"/>
          </p:cNvSpPr>
          <p:nvPr/>
        </p:nvSpPr>
        <p:spPr>
          <a:xfrm>
            <a:off x="1162050" y="2428875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多发行人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36D0C9-ECC4-423C-AF5F-C3C6DB2BBD9B}"/>
              </a:ext>
            </a:extLst>
          </p:cNvPr>
          <p:cNvSpPr>
            <a:spLocks noGrp="1"/>
          </p:cNvSpPr>
          <p:nvPr/>
        </p:nvSpPr>
        <p:spPr>
          <a:xfrm>
            <a:off x="3524250" y="24288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52606D"/>
                </a:solidFill>
              </a:defRPr>
            </a:defPPr>
            <a:lvl1pPr>
              <a:defRPr sz="1200">
                <a:solidFill>
                  <a:srgbClr val="52606D"/>
                </a:solidFill>
              </a:defRPr>
            </a:lvl1pPr>
            <a:lvl2pPr>
              <a:defRPr sz="1200">
                <a:solidFill>
                  <a:srgbClr val="52606D"/>
                </a:solidFill>
              </a:defRPr>
            </a:lvl2pPr>
            <a:lvl3pPr>
              <a:defRPr sz="1200">
                <a:solidFill>
                  <a:srgbClr val="52606D"/>
                </a:solidFill>
              </a:defRPr>
            </a:lvl3pPr>
            <a:lvl4pPr>
              <a:defRPr sz="1200">
                <a:solidFill>
                  <a:srgbClr val="52606D"/>
                </a:solidFill>
              </a:defRPr>
            </a:lvl4pPr>
            <a:lvl5pPr>
              <a:defRPr sz="1200">
                <a:solidFill>
                  <a:srgbClr val="52606D"/>
                </a:solidFill>
              </a:defRPr>
            </a:lvl5pPr>
            <a:lvl6pPr>
              <a:defRPr sz="1200">
                <a:solidFill>
                  <a:srgbClr val="52606D"/>
                </a:solidFill>
              </a:defRPr>
            </a:lvl6pPr>
            <a:lvl7pPr>
              <a:defRPr sz="1200">
                <a:solidFill>
                  <a:srgbClr val="52606D"/>
                </a:solidFill>
              </a:defRPr>
            </a:lvl7pPr>
            <a:lvl8pPr>
              <a:defRPr sz="1200">
                <a:solidFill>
                  <a:srgbClr val="52606D"/>
                </a:solidFill>
              </a:defRPr>
            </a:lvl8pPr>
            <a:lvl9pPr>
              <a:defRPr sz="1200">
                <a:solidFill>
                  <a:srgbClr val="52606D"/>
                </a:solidFill>
              </a:defRPr>
            </a:lvl9pPr>
          </a:lstStyle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至少 5 家发行人保留金标准样本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4793C11-9DD2-4F6E-A79E-A3BAB90F5F26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2190750" cy="419100"/>
          </a:xfrm>
          <a:prstGeom prst="roundRect">
            <a:avLst>
              <a:gd name="adj" fmla="val 18182"/>
            </a:avLst>
          </a:prstGeom>
          <a:solidFill>
            <a:srgbClr val="D9F0F2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8B9AE-7ADA-4745-A97B-5936BFBCCE8D}"/>
              </a:ext>
            </a:extLst>
          </p:cNvPr>
          <p:cNvSpPr>
            <a:spLocks noGrp="1"/>
          </p:cNvSpPr>
          <p:nvPr/>
        </p:nvSpPr>
        <p:spPr>
          <a:xfrm>
            <a:off x="1162050" y="3038475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自动校验评估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A07BE6-4DFB-4417-B648-BC6971DD820B}"/>
              </a:ext>
            </a:extLst>
          </p:cNvPr>
          <p:cNvSpPr>
            <a:spLocks noGrp="1"/>
          </p:cNvSpPr>
          <p:nvPr/>
        </p:nvSpPr>
        <p:spPr>
          <a:xfrm>
            <a:off x="3524250" y="30384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52606D"/>
                </a:solidFill>
              </a:defRPr>
            </a:defPPr>
            <a:lvl1pPr>
              <a:defRPr sz="1200">
                <a:solidFill>
                  <a:srgbClr val="52606D"/>
                </a:solidFill>
              </a:defRPr>
            </a:lvl1pPr>
            <a:lvl2pPr>
              <a:defRPr sz="1200">
                <a:solidFill>
                  <a:srgbClr val="52606D"/>
                </a:solidFill>
              </a:defRPr>
            </a:lvl2pPr>
            <a:lvl3pPr>
              <a:defRPr sz="1200">
                <a:solidFill>
                  <a:srgbClr val="52606D"/>
                </a:solidFill>
              </a:defRPr>
            </a:lvl3pPr>
            <a:lvl4pPr>
              <a:defRPr sz="1200">
                <a:solidFill>
                  <a:srgbClr val="52606D"/>
                </a:solidFill>
              </a:defRPr>
            </a:lvl4pPr>
            <a:lvl5pPr>
              <a:defRPr sz="1200">
                <a:solidFill>
                  <a:srgbClr val="52606D"/>
                </a:solidFill>
              </a:defRPr>
            </a:lvl5pPr>
            <a:lvl6pPr>
              <a:defRPr sz="1200">
                <a:solidFill>
                  <a:srgbClr val="52606D"/>
                </a:solidFill>
              </a:defRPr>
            </a:lvl6pPr>
            <a:lvl7pPr>
              <a:defRPr sz="1200">
                <a:solidFill>
                  <a:srgbClr val="52606D"/>
                </a:solidFill>
              </a:defRPr>
            </a:lvl7pPr>
            <a:lvl8pPr>
              <a:defRPr sz="1200">
                <a:solidFill>
                  <a:srgbClr val="52606D"/>
                </a:solidFill>
              </a:defRPr>
            </a:lvl8pPr>
            <a:lvl9pPr>
              <a:defRPr sz="1200">
                <a:solidFill>
                  <a:srgbClr val="52606D"/>
                </a:solidFill>
              </a:defRPr>
            </a:lvl9pPr>
          </a:lstStyle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误放、误拒和 needs_review 尚无金标准记录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C26A696-D1D1-4DE1-A70A-998132BA1613}"/>
              </a:ext>
            </a:extLst>
          </p:cNvPr>
          <p:cNvSpPr>
            <a:spLocks noGrp="1"/>
          </p:cNvSpPr>
          <p:nvPr/>
        </p:nvSpPr>
        <p:spPr>
          <a:xfrm>
            <a:off x="990600" y="3543300"/>
            <a:ext cx="2190750" cy="419100"/>
          </a:xfrm>
          <a:prstGeom prst="roundRect">
            <a:avLst>
              <a:gd name="adj" fmla="val 18182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017C8E2-EC44-4B34-826E-B4482315A839}"/>
              </a:ext>
            </a:extLst>
          </p:cNvPr>
          <p:cNvSpPr>
            <a:spLocks noGrp="1"/>
          </p:cNvSpPr>
          <p:nvPr/>
        </p:nvSpPr>
        <p:spPr>
          <a:xfrm>
            <a:off x="1162050" y="3648075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干净环境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9682B2-48BA-4467-B42D-57FF5D654ECC}"/>
              </a:ext>
            </a:extLst>
          </p:cNvPr>
          <p:cNvSpPr>
            <a:spLocks noGrp="1"/>
          </p:cNvSpPr>
          <p:nvPr/>
        </p:nvSpPr>
        <p:spPr>
          <a:xfrm>
            <a:off x="3524250" y="36480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52606D"/>
                </a:solidFill>
              </a:defRPr>
            </a:defPPr>
            <a:lvl1pPr>
              <a:defRPr sz="1200">
                <a:solidFill>
                  <a:srgbClr val="52606D"/>
                </a:solidFill>
              </a:defRPr>
            </a:lvl1pPr>
            <a:lvl2pPr>
              <a:defRPr sz="1200">
                <a:solidFill>
                  <a:srgbClr val="52606D"/>
                </a:solidFill>
              </a:defRPr>
            </a:lvl2pPr>
            <a:lvl3pPr>
              <a:defRPr sz="1200">
                <a:solidFill>
                  <a:srgbClr val="52606D"/>
                </a:solidFill>
              </a:defRPr>
            </a:lvl3pPr>
            <a:lvl4pPr>
              <a:defRPr sz="1200">
                <a:solidFill>
                  <a:srgbClr val="52606D"/>
                </a:solidFill>
              </a:defRPr>
            </a:lvl4pPr>
            <a:lvl5pPr>
              <a:defRPr sz="1200">
                <a:solidFill>
                  <a:srgbClr val="52606D"/>
                </a:solidFill>
              </a:defRPr>
            </a:lvl5pPr>
            <a:lvl6pPr>
              <a:defRPr sz="1200">
                <a:solidFill>
                  <a:srgbClr val="52606D"/>
                </a:solidFill>
              </a:defRPr>
            </a:lvl6pPr>
            <a:lvl7pPr>
              <a:defRPr sz="1200">
                <a:solidFill>
                  <a:srgbClr val="52606D"/>
                </a:solidFill>
              </a:defRPr>
            </a:lvl7pPr>
            <a:lvl8pPr>
              <a:defRPr sz="1200">
                <a:solidFill>
                  <a:srgbClr val="52606D"/>
                </a:solidFill>
              </a:defRPr>
            </a:lvl8pPr>
            <a:lvl9pPr>
              <a:defRPr sz="1200">
                <a:solidFill>
                  <a:srgbClr val="52606D"/>
                </a:solidFill>
              </a:defRPr>
            </a:lvl9pPr>
          </a:lstStyle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依赖、模型权重和资源基线待验证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4C68C9E-8F56-4964-BDA4-F242676B600A}"/>
              </a:ext>
            </a:extLst>
          </p:cNvPr>
          <p:cNvSpPr>
            <a:spLocks noGrp="1"/>
          </p:cNvSpPr>
          <p:nvPr/>
        </p:nvSpPr>
        <p:spPr>
          <a:xfrm>
            <a:off x="990600" y="4152900"/>
            <a:ext cx="2190750" cy="419100"/>
          </a:xfrm>
          <a:prstGeom prst="roundRect">
            <a:avLst>
              <a:gd name="adj" fmla="val 18182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45244D-3EFC-4C92-9E58-5BBE0B9AE8F2}"/>
              </a:ext>
            </a:extLst>
          </p:cNvPr>
          <p:cNvSpPr>
            <a:spLocks noGrp="1"/>
          </p:cNvSpPr>
          <p:nvPr/>
        </p:nvSpPr>
        <p:spPr>
          <a:xfrm>
            <a:off x="1162050" y="4257675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外部模型复跑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9916E3-9ABD-4666-B848-EF9B8F19D9A1}"/>
              </a:ext>
            </a:extLst>
          </p:cNvPr>
          <p:cNvSpPr>
            <a:spLocks noGrp="1"/>
          </p:cNvSpPr>
          <p:nvPr/>
        </p:nvSpPr>
        <p:spPr>
          <a:xfrm>
            <a:off x="3524250" y="42576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52606D"/>
                </a:solidFill>
              </a:defRPr>
            </a:defPPr>
            <a:lvl1pPr>
              <a:defRPr sz="1200">
                <a:solidFill>
                  <a:srgbClr val="52606D"/>
                </a:solidFill>
              </a:defRPr>
            </a:lvl1pPr>
            <a:lvl2pPr>
              <a:defRPr sz="1200">
                <a:solidFill>
                  <a:srgbClr val="52606D"/>
                </a:solidFill>
              </a:defRPr>
            </a:lvl2pPr>
            <a:lvl3pPr>
              <a:defRPr sz="1200">
                <a:solidFill>
                  <a:srgbClr val="52606D"/>
                </a:solidFill>
              </a:defRPr>
            </a:lvl3pPr>
            <a:lvl4pPr>
              <a:defRPr sz="1200">
                <a:solidFill>
                  <a:srgbClr val="52606D"/>
                </a:solidFill>
              </a:defRPr>
            </a:lvl4pPr>
            <a:lvl5pPr>
              <a:defRPr sz="1200">
                <a:solidFill>
                  <a:srgbClr val="52606D"/>
                </a:solidFill>
              </a:defRPr>
            </a:lvl5pPr>
            <a:lvl6pPr>
              <a:defRPr sz="1200">
                <a:solidFill>
                  <a:srgbClr val="52606D"/>
                </a:solidFill>
              </a:defRPr>
            </a:lvl6pPr>
            <a:lvl7pPr>
              <a:defRPr sz="1200">
                <a:solidFill>
                  <a:srgbClr val="52606D"/>
                </a:solidFill>
              </a:defRPr>
            </a:lvl7pPr>
            <a:lvl8pPr>
              <a:defRPr sz="1200">
                <a:solidFill>
                  <a:srgbClr val="52606D"/>
                </a:solidFill>
              </a:defRPr>
            </a:lvl8pPr>
            <a:lvl9pPr>
              <a:defRPr sz="1200">
                <a:solidFill>
                  <a:srgbClr val="52606D"/>
                </a:solidFill>
              </a:defRPr>
            </a:lvl9pPr>
          </a:lstStyle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比较结论类别和数值容差，不承诺文本一致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0467EB3-6EE6-4883-937E-320625A8760D}"/>
              </a:ext>
            </a:extLst>
          </p:cNvPr>
          <p:cNvSpPr>
            <a:spLocks noGrp="1"/>
          </p:cNvSpPr>
          <p:nvPr/>
        </p:nvSpPr>
        <p:spPr>
          <a:xfrm>
            <a:off x="990600" y="4762500"/>
            <a:ext cx="2190750" cy="419100"/>
          </a:xfrm>
          <a:prstGeom prst="roundRect">
            <a:avLst>
              <a:gd name="adj" fmla="val 18182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B046FB-2F59-4F10-BC64-75A31CEC003F}"/>
              </a:ext>
            </a:extLst>
          </p:cNvPr>
          <p:cNvSpPr>
            <a:spLocks noGrp="1"/>
          </p:cNvSpPr>
          <p:nvPr/>
        </p:nvSpPr>
        <p:spPr>
          <a:xfrm>
            <a:off x="1162050" y="4867275"/>
            <a:ext cx="1847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部署韧性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AC4FA3D-1A12-43C3-A2B2-71B3CBF1E63B}"/>
              </a:ext>
            </a:extLst>
          </p:cNvPr>
          <p:cNvSpPr>
            <a:spLocks noGrp="1"/>
          </p:cNvSpPr>
          <p:nvPr/>
        </p:nvSpPr>
        <p:spPr>
          <a:xfrm>
            <a:off x="3524250" y="486727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52606D"/>
                </a:solidFill>
              </a:defRPr>
            </a:defPPr>
            <a:lvl1pPr>
              <a:defRPr sz="1200">
                <a:solidFill>
                  <a:srgbClr val="52606D"/>
                </a:solidFill>
              </a:defRPr>
            </a:lvl1pPr>
            <a:lvl2pPr>
              <a:defRPr sz="1200">
                <a:solidFill>
                  <a:srgbClr val="52606D"/>
                </a:solidFill>
              </a:defRPr>
            </a:lvl2pPr>
            <a:lvl3pPr>
              <a:defRPr sz="1200">
                <a:solidFill>
                  <a:srgbClr val="52606D"/>
                </a:solidFill>
              </a:defRPr>
            </a:lvl3pPr>
            <a:lvl4pPr>
              <a:defRPr sz="1200">
                <a:solidFill>
                  <a:srgbClr val="52606D"/>
                </a:solidFill>
              </a:defRPr>
            </a:lvl4pPr>
            <a:lvl5pPr>
              <a:defRPr sz="1200">
                <a:solidFill>
                  <a:srgbClr val="52606D"/>
                </a:solidFill>
              </a:defRPr>
            </a:lvl5pPr>
            <a:lvl6pPr>
              <a:defRPr sz="1200">
                <a:solidFill>
                  <a:srgbClr val="52606D"/>
                </a:solidFill>
              </a:defRPr>
            </a:lvl6pPr>
            <a:lvl7pPr>
              <a:defRPr sz="1200">
                <a:solidFill>
                  <a:srgbClr val="52606D"/>
                </a:solidFill>
              </a:defRPr>
            </a:lvl7pPr>
            <a:lvl8pPr>
              <a:defRPr sz="1200">
                <a:solidFill>
                  <a:srgbClr val="52606D"/>
                </a:solidFill>
              </a:defRPr>
            </a:lvl8pPr>
            <a:lvl9pPr>
              <a:defRPr sz="1200">
                <a:solidFill>
                  <a:srgbClr val="52606D"/>
                </a:solidFill>
              </a:defRPr>
            </a:lvl9pPr>
          </a:lstStyle>
          <a:p>
            <a:pPr>
              <a:defRPr sz="1200">
                <a:solidFill>
                  <a:srgbClr val="52606D"/>
                </a:solidFill>
              </a:defRPr>
            </a:pPr>
            <a:r>
              <a:rPr sz="1200">
                <a:solidFill>
                  <a:srgbClr val="52606D"/>
                </a:solidFill>
              </a:rPr>
              <a:t>重启、超时、并发和失败恢复待验证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147DCE1-8254-4C9D-A9B9-02A3E806FDED}"/>
              </a:ext>
            </a:extLst>
          </p:cNvPr>
          <p:cNvSpPr>
            <a:spLocks noGrp="1"/>
          </p:cNvSpPr>
          <p:nvPr/>
        </p:nvSpPr>
        <p:spPr>
          <a:xfrm>
            <a:off x="3105150" y="5657850"/>
            <a:ext cx="1714500" cy="304800"/>
          </a:xfrm>
          <a:prstGeom prst="roundRect">
            <a:avLst>
              <a:gd name="adj" fmla="val 25000"/>
            </a:avLst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F5D353-CE1E-426A-95CC-875393982058}"/>
              </a:ext>
            </a:extLst>
          </p:cNvPr>
          <p:cNvSpPr>
            <a:spLocks noGrp="1"/>
          </p:cNvSpPr>
          <p:nvPr/>
        </p:nvSpPr>
        <p:spPr>
          <a:xfrm>
            <a:off x="3200400" y="5724525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WP4 校验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60E1E1F-5093-47AF-8393-3570C1D34D2F}"/>
              </a:ext>
            </a:extLst>
          </p:cNvPr>
          <p:cNvSpPr>
            <a:spLocks noGrp="1"/>
          </p:cNvSpPr>
          <p:nvPr/>
        </p:nvSpPr>
        <p:spPr>
          <a:xfrm>
            <a:off x="5238750" y="5657850"/>
            <a:ext cx="1714500" cy="304800"/>
          </a:xfrm>
          <a:prstGeom prst="roundRect">
            <a:avLst>
              <a:gd name="adj" fmla="val 25000"/>
            </a:avLst>
          </a:prstGeom>
          <a:solidFill>
            <a:srgbClr val="18794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ABDAD86-6FD5-49D7-8D49-193550D372A6}"/>
              </a:ext>
            </a:extLst>
          </p:cNvPr>
          <p:cNvSpPr>
            <a:spLocks noGrp="1"/>
          </p:cNvSpPr>
          <p:nvPr/>
        </p:nvSpPr>
        <p:spPr>
          <a:xfrm>
            <a:off x="5334000" y="5724525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WP9 评测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8031F84-03BF-4F3D-8F3A-DB3DF0067BF0}"/>
              </a:ext>
            </a:extLst>
          </p:cNvPr>
          <p:cNvSpPr>
            <a:spLocks noGrp="1"/>
          </p:cNvSpPr>
          <p:nvPr/>
        </p:nvSpPr>
        <p:spPr>
          <a:xfrm>
            <a:off x="7372350" y="5657850"/>
            <a:ext cx="1714500" cy="304800"/>
          </a:xfrm>
          <a:prstGeom prst="roundRect">
            <a:avLst>
              <a:gd name="adj" fmla="val 25000"/>
            </a:avLst>
          </a:prstGeom>
          <a:solidFill>
            <a:srgbClr val="6B46C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3CC4EB9-89DE-4984-8D3E-FD2146719C97}"/>
              </a:ext>
            </a:extLst>
          </p:cNvPr>
          <p:cNvSpPr>
            <a:spLocks noGrp="1"/>
          </p:cNvSpPr>
          <p:nvPr/>
        </p:nvSpPr>
        <p:spPr>
          <a:xfrm>
            <a:off x="7467600" y="5724525"/>
            <a:ext cx="152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WP10 演示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0D970C-2BD4-4FD3-97A3-3FCA13FD6D5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DF4DE0-68D8-4E66-A475-D303030864DA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5122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649C4B15-317A-4D44-BCA0-00142762A2B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09  GATE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70635B-B2AD-4C64-9239-712D57FD9EF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G0 到 G7 把研发目标变成可检查节点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BD1F98-3A7C-4738-B245-22378D20917C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每个 Gate 提交结果、日志、输入哈希和未通过项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16266E7-17C7-4D18-A334-2256EC313401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295400" cy="876300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7EE3BD-E2F1-43CE-906B-E8EC7B914A8B}"/>
              </a:ext>
            </a:extLst>
          </p:cNvPr>
          <p:cNvSpPr>
            <a:spLocks noGrp="1"/>
          </p:cNvSpPr>
          <p:nvPr/>
        </p:nvSpPr>
        <p:spPr>
          <a:xfrm>
            <a:off x="742950" y="229552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G0</a:t>
            </a:r>
          </a:p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基线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60A61E04-2C40-4AF2-A1D5-11065593FBAE}"/>
              </a:ext>
            </a:extLst>
          </p:cNvPr>
          <p:cNvSpPr>
            <a:spLocks noGrp="1"/>
          </p:cNvSpPr>
          <p:nvPr/>
        </p:nvSpPr>
        <p:spPr>
          <a:xfrm>
            <a:off x="1971675" y="2457450"/>
            <a:ext cx="66675" cy="171450"/>
          </a:xfrm>
          <a:prstGeom prst="rightArrow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09BBFEB-53A6-42E5-85D1-CC65B66EFC23}"/>
              </a:ext>
            </a:extLst>
          </p:cNvPr>
          <p:cNvSpPr>
            <a:spLocks noGrp="1"/>
          </p:cNvSpPr>
          <p:nvPr/>
        </p:nvSpPr>
        <p:spPr>
          <a:xfrm>
            <a:off x="2038350" y="2095500"/>
            <a:ext cx="1295400" cy="876300"/>
          </a:xfrm>
          <a:prstGeom prst="roundRect">
            <a:avLst>
              <a:gd name="adj" fmla="val 8696"/>
            </a:avLst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14F59D-E94B-45B9-8D58-2F28BB4BDF3D}"/>
              </a:ext>
            </a:extLst>
          </p:cNvPr>
          <p:cNvSpPr>
            <a:spLocks noGrp="1"/>
          </p:cNvSpPr>
          <p:nvPr/>
        </p:nvSpPr>
        <p:spPr>
          <a:xfrm>
            <a:off x="2114550" y="229552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G1</a:t>
            </a:r>
          </a:p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版本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C13603E6-0920-45E7-AED5-1206B03337A7}"/>
              </a:ext>
            </a:extLst>
          </p:cNvPr>
          <p:cNvSpPr>
            <a:spLocks noGrp="1"/>
          </p:cNvSpPr>
          <p:nvPr/>
        </p:nvSpPr>
        <p:spPr>
          <a:xfrm>
            <a:off x="3343275" y="2457450"/>
            <a:ext cx="66675" cy="171450"/>
          </a:xfrm>
          <a:prstGeom prst="rightArrow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710D44C-3D84-487E-AD83-3011515DE284}"/>
              </a:ext>
            </a:extLst>
          </p:cNvPr>
          <p:cNvSpPr>
            <a:spLocks noGrp="1"/>
          </p:cNvSpPr>
          <p:nvPr/>
        </p:nvSpPr>
        <p:spPr>
          <a:xfrm>
            <a:off x="3409950" y="2095500"/>
            <a:ext cx="1295400" cy="876300"/>
          </a:xfrm>
          <a:prstGeom prst="roundRect">
            <a:avLst>
              <a:gd name="adj" fmla="val 8696"/>
            </a:avLst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A7513B-BD07-42A6-AC59-66E555F4B202}"/>
              </a:ext>
            </a:extLst>
          </p:cNvPr>
          <p:cNvSpPr>
            <a:spLocks noGrp="1"/>
          </p:cNvSpPr>
          <p:nvPr/>
        </p:nvSpPr>
        <p:spPr>
          <a:xfrm>
            <a:off x="3486150" y="229552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G2</a:t>
            </a:r>
          </a:p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提取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B2435E3-0A55-4D58-81EB-EEF3650FA8D4}"/>
              </a:ext>
            </a:extLst>
          </p:cNvPr>
          <p:cNvSpPr>
            <a:spLocks noGrp="1"/>
          </p:cNvSpPr>
          <p:nvPr/>
        </p:nvSpPr>
        <p:spPr>
          <a:xfrm>
            <a:off x="4714875" y="2457450"/>
            <a:ext cx="66675" cy="171450"/>
          </a:xfrm>
          <a:prstGeom prst="rightArrow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89108C2-E67D-489A-AE92-E459BACBFC7D}"/>
              </a:ext>
            </a:extLst>
          </p:cNvPr>
          <p:cNvSpPr>
            <a:spLocks noGrp="1"/>
          </p:cNvSpPr>
          <p:nvPr/>
        </p:nvSpPr>
        <p:spPr>
          <a:xfrm>
            <a:off x="4781550" y="2095500"/>
            <a:ext cx="1295400" cy="876300"/>
          </a:xfrm>
          <a:prstGeom prst="roundRect">
            <a:avLst>
              <a:gd name="adj" fmla="val 8696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357FDB-B373-43BF-8F96-E3D7DE7F0B29}"/>
              </a:ext>
            </a:extLst>
          </p:cNvPr>
          <p:cNvSpPr>
            <a:spLocks noGrp="1"/>
          </p:cNvSpPr>
          <p:nvPr/>
        </p:nvSpPr>
        <p:spPr>
          <a:xfrm>
            <a:off x="4857750" y="229552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G3</a:t>
            </a:r>
          </a:p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计算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A0930A6D-5198-4A4B-A7AB-EBFDAD49759E}"/>
              </a:ext>
            </a:extLst>
          </p:cNvPr>
          <p:cNvSpPr>
            <a:spLocks noGrp="1"/>
          </p:cNvSpPr>
          <p:nvPr/>
        </p:nvSpPr>
        <p:spPr>
          <a:xfrm>
            <a:off x="6086475" y="2457450"/>
            <a:ext cx="66675" cy="171450"/>
          </a:xfrm>
          <a:prstGeom prst="rightArrow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D9FA1EF-CA07-4E21-99D5-5D26D3AF709F}"/>
              </a:ext>
            </a:extLst>
          </p:cNvPr>
          <p:cNvSpPr>
            <a:spLocks noGrp="1"/>
          </p:cNvSpPr>
          <p:nvPr/>
        </p:nvSpPr>
        <p:spPr>
          <a:xfrm>
            <a:off x="6153150" y="2095500"/>
            <a:ext cx="1295400" cy="876300"/>
          </a:xfrm>
          <a:prstGeom prst="roundRect">
            <a:avLst>
              <a:gd name="adj" fmla="val 8696"/>
            </a:avLst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54DFEB-E810-4D71-82D3-28A135377B2C}"/>
              </a:ext>
            </a:extLst>
          </p:cNvPr>
          <p:cNvSpPr>
            <a:spLocks noGrp="1"/>
          </p:cNvSpPr>
          <p:nvPr/>
        </p:nvSpPr>
        <p:spPr>
          <a:xfrm>
            <a:off x="6229350" y="229552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G4</a:t>
            </a:r>
          </a:p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专项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923C3EE2-86A1-4888-9710-9A0424DEE87E}"/>
              </a:ext>
            </a:extLst>
          </p:cNvPr>
          <p:cNvSpPr>
            <a:spLocks noGrp="1"/>
          </p:cNvSpPr>
          <p:nvPr/>
        </p:nvSpPr>
        <p:spPr>
          <a:xfrm>
            <a:off x="7458075" y="2457450"/>
            <a:ext cx="66675" cy="171450"/>
          </a:xfrm>
          <a:prstGeom prst="rightArrow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B95ED2C-3855-4E0D-ACB4-203699ADA231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1295400" cy="876300"/>
          </a:xfrm>
          <a:prstGeom prst="roundRect">
            <a:avLst>
              <a:gd name="adj" fmla="val 8696"/>
            </a:avLst>
          </a:prstGeom>
          <a:solidFill>
            <a:srgbClr val="6B46C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C6AD904-ECFD-49D0-AC5F-5E8BE7F24C09}"/>
              </a:ext>
            </a:extLst>
          </p:cNvPr>
          <p:cNvSpPr>
            <a:spLocks noGrp="1"/>
          </p:cNvSpPr>
          <p:nvPr/>
        </p:nvSpPr>
        <p:spPr>
          <a:xfrm>
            <a:off x="7600950" y="229552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G5</a:t>
            </a:r>
          </a:p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D556E8D1-1D8F-4D1E-A59F-5FDF89B12F44}"/>
              </a:ext>
            </a:extLst>
          </p:cNvPr>
          <p:cNvSpPr>
            <a:spLocks noGrp="1"/>
          </p:cNvSpPr>
          <p:nvPr/>
        </p:nvSpPr>
        <p:spPr>
          <a:xfrm>
            <a:off x="8829675" y="2457450"/>
            <a:ext cx="66675" cy="171450"/>
          </a:xfrm>
          <a:prstGeom prst="rightArrow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4BD9ACB-1A1F-49B4-85D7-FF4E899C6CD7}"/>
              </a:ext>
            </a:extLst>
          </p:cNvPr>
          <p:cNvSpPr>
            <a:spLocks noGrp="1"/>
          </p:cNvSpPr>
          <p:nvPr/>
        </p:nvSpPr>
        <p:spPr>
          <a:xfrm>
            <a:off x="8896350" y="2095500"/>
            <a:ext cx="1295400" cy="876300"/>
          </a:xfrm>
          <a:prstGeom prst="roundRect">
            <a:avLst>
              <a:gd name="adj" fmla="val 8696"/>
            </a:avLst>
          </a:prstGeom>
          <a:solidFill>
            <a:srgbClr val="6B46C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E5A01B-A17D-4008-8032-7A9EAFEC8CAF}"/>
              </a:ext>
            </a:extLst>
          </p:cNvPr>
          <p:cNvSpPr>
            <a:spLocks noGrp="1"/>
          </p:cNvSpPr>
          <p:nvPr/>
        </p:nvSpPr>
        <p:spPr>
          <a:xfrm>
            <a:off x="8972550" y="229552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G6</a:t>
            </a:r>
          </a:p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复现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5513D7D7-8813-4080-A51E-887793FDBEC7}"/>
              </a:ext>
            </a:extLst>
          </p:cNvPr>
          <p:cNvSpPr>
            <a:spLocks noGrp="1"/>
          </p:cNvSpPr>
          <p:nvPr/>
        </p:nvSpPr>
        <p:spPr>
          <a:xfrm>
            <a:off x="10201275" y="2457450"/>
            <a:ext cx="66675" cy="171450"/>
          </a:xfrm>
          <a:prstGeom prst="rightArrow">
            <a:avLst/>
          </a:prstGeom>
          <a:solidFill>
            <a:srgbClr val="CBD5E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425B7AC-14F7-411D-B725-895331148041}"/>
              </a:ext>
            </a:extLst>
          </p:cNvPr>
          <p:cNvSpPr>
            <a:spLocks noGrp="1"/>
          </p:cNvSpPr>
          <p:nvPr/>
        </p:nvSpPr>
        <p:spPr>
          <a:xfrm>
            <a:off x="10267950" y="2095500"/>
            <a:ext cx="1295400" cy="876300"/>
          </a:xfrm>
          <a:prstGeom prst="roundRect">
            <a:avLst>
              <a:gd name="adj" fmla="val 8696"/>
            </a:avLst>
          </a:prstGeom>
          <a:solidFill>
            <a:srgbClr val="18794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14D4FF-7AC9-4655-A73B-C2E3D868DDEE}"/>
              </a:ext>
            </a:extLst>
          </p:cNvPr>
          <p:cNvSpPr>
            <a:spLocks noGrp="1"/>
          </p:cNvSpPr>
          <p:nvPr/>
        </p:nvSpPr>
        <p:spPr>
          <a:xfrm>
            <a:off x="10344150" y="2295525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G7</a:t>
            </a:r>
          </a:p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演示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F948794-ED62-436B-9DDA-EAD0E32F665A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9977AB-B7AE-4EB8-A025-8E0C20F0D707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66675" cy="1352550"/>
          </a:xfrm>
          <a:prstGeom prst="rect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2347192-09C7-4E86-B871-F19AF7F9C091}"/>
              </a:ext>
            </a:extLst>
          </p:cNvPr>
          <p:cNvSpPr>
            <a:spLocks noGrp="1"/>
          </p:cNvSpPr>
          <p:nvPr/>
        </p:nvSpPr>
        <p:spPr>
          <a:xfrm>
            <a:off x="857250" y="3867150"/>
            <a:ext cx="2133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数据与结构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FF9192B-85B3-43BB-A000-A9F79641655E}"/>
              </a:ext>
            </a:extLst>
          </p:cNvPr>
          <p:cNvSpPr>
            <a:spLocks noGrp="1"/>
          </p:cNvSpPr>
          <p:nvPr/>
        </p:nvSpPr>
        <p:spPr>
          <a:xfrm>
            <a:off x="857250" y="4191000"/>
            <a:ext cx="2133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版本关系、页块行列、来源定位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4F2B311-09C2-4655-A9A6-2835200C06C3}"/>
              </a:ext>
            </a:extLst>
          </p:cNvPr>
          <p:cNvSpPr>
            <a:spLocks noGrp="1"/>
          </p:cNvSpPr>
          <p:nvPr/>
        </p:nvSpPr>
        <p:spPr>
          <a:xfrm>
            <a:off x="3429000" y="371475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F8F5EE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E1F5F7D-FB20-4B2B-8A6D-F967FB0649F4}"/>
              </a:ext>
            </a:extLst>
          </p:cNvPr>
          <p:cNvSpPr>
            <a:spLocks noGrp="1"/>
          </p:cNvSpPr>
          <p:nvPr/>
        </p:nvSpPr>
        <p:spPr>
          <a:xfrm>
            <a:off x="3429000" y="3714750"/>
            <a:ext cx="66675" cy="1352550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44189AF-C657-4F32-A0F3-515FABCF162C}"/>
              </a:ext>
            </a:extLst>
          </p:cNvPr>
          <p:cNvSpPr>
            <a:spLocks noGrp="1"/>
          </p:cNvSpPr>
          <p:nvPr/>
        </p:nvSpPr>
        <p:spPr>
          <a:xfrm>
            <a:off x="3619500" y="3867150"/>
            <a:ext cx="2133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金融计算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B0DBEA6-027E-495A-ADF2-BA6D12B3B174}"/>
              </a:ext>
            </a:extLst>
          </p:cNvPr>
          <p:cNvSpPr>
            <a:spLocks noGrp="1"/>
          </p:cNvSpPr>
          <p:nvPr/>
        </p:nvSpPr>
        <p:spPr>
          <a:xfrm>
            <a:off x="3619500" y="4191000"/>
            <a:ext cx="2133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独立参考实现、拒算反例、口径一致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4C0784C-018D-4E1A-85B6-B371FB83430A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30C1F89-CFEE-4E5E-9ABB-5A90F3FE0923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66675" cy="1352550"/>
          </a:xfrm>
          <a:prstGeom prst="rect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B107A8C-F964-41DC-A86C-F0C46A17EB9C}"/>
              </a:ext>
            </a:extLst>
          </p:cNvPr>
          <p:cNvSpPr>
            <a:spLocks noGrp="1"/>
          </p:cNvSpPr>
          <p:nvPr/>
        </p:nvSpPr>
        <p:spPr>
          <a:xfrm>
            <a:off x="6381750" y="3867150"/>
            <a:ext cx="2133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专项与异常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1356D00-F45C-44C6-9383-C722925BD8C7}"/>
              </a:ext>
            </a:extLst>
          </p:cNvPr>
          <p:cNvSpPr>
            <a:spLocks noGrp="1"/>
          </p:cNvSpPr>
          <p:nvPr/>
        </p:nvSpPr>
        <p:spPr>
          <a:xfrm>
            <a:off x="6381750" y="4191000"/>
            <a:ext cx="2133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非经常性损益、会计变更、利润-CFO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9E4B0E60-A050-4E4A-9E64-3AA3304F4351}"/>
              </a:ext>
            </a:extLst>
          </p:cNvPr>
          <p:cNvSpPr>
            <a:spLocks noGrp="1"/>
          </p:cNvSpPr>
          <p:nvPr/>
        </p:nvSpPr>
        <p:spPr>
          <a:xfrm>
            <a:off x="8953500" y="3714750"/>
            <a:ext cx="2476500" cy="1352550"/>
          </a:xfrm>
          <a:prstGeom prst="roundRect">
            <a:avLst>
              <a:gd name="adj" fmla="val 5634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D446AD9-6504-409F-B893-BB8F2674BCAA}"/>
              </a:ext>
            </a:extLst>
          </p:cNvPr>
          <p:cNvSpPr>
            <a:spLocks noGrp="1"/>
          </p:cNvSpPr>
          <p:nvPr/>
        </p:nvSpPr>
        <p:spPr>
          <a:xfrm>
            <a:off x="8953500" y="3714750"/>
            <a:ext cx="66675" cy="1352550"/>
          </a:xfrm>
          <a:prstGeom prst="rect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D1FA690-C639-4F0E-8443-B4E14B041BE9}"/>
              </a:ext>
            </a:extLst>
          </p:cNvPr>
          <p:cNvSpPr>
            <a:spLocks noGrp="1"/>
          </p:cNvSpPr>
          <p:nvPr/>
        </p:nvSpPr>
        <p:spPr>
          <a:xfrm>
            <a:off x="9144000" y="3867150"/>
            <a:ext cx="2133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复现与演示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C155521-7645-46DD-8885-97205B70A9B1}"/>
              </a:ext>
            </a:extLst>
          </p:cNvPr>
          <p:cNvSpPr>
            <a:spLocks noGrp="1"/>
          </p:cNvSpPr>
          <p:nvPr/>
        </p:nvSpPr>
        <p:spPr>
          <a:xfrm>
            <a:off x="9144000" y="4191000"/>
            <a:ext cx="21336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回放、日志、干净环境和失败处置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F5252B1-FD87-4F96-96C1-E61F1BC786FE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52606D"/>
                </a:solidFill>
              </a:defRPr>
            </a:defPPr>
            <a:lvl1pPr>
              <a:defRPr sz="1200" b="1">
                <a:solidFill>
                  <a:srgbClr val="52606D"/>
                </a:solidFill>
              </a:defRPr>
            </a:lvl1pPr>
            <a:lvl2pPr>
              <a:defRPr sz="1200" b="1">
                <a:solidFill>
                  <a:srgbClr val="52606D"/>
                </a:solidFill>
              </a:defRPr>
            </a:lvl2pPr>
            <a:lvl3pPr>
              <a:defRPr sz="1200" b="1">
                <a:solidFill>
                  <a:srgbClr val="52606D"/>
                </a:solidFill>
              </a:defRPr>
            </a:lvl3pPr>
            <a:lvl4pPr>
              <a:defRPr sz="1200" b="1">
                <a:solidFill>
                  <a:srgbClr val="52606D"/>
                </a:solidFill>
              </a:defRPr>
            </a:lvl4pPr>
            <a:lvl5pPr>
              <a:defRPr sz="1200" b="1">
                <a:solidFill>
                  <a:srgbClr val="52606D"/>
                </a:solidFill>
              </a:defRPr>
            </a:lvl5pPr>
            <a:lvl6pPr>
              <a:defRPr sz="1200" b="1">
                <a:solidFill>
                  <a:srgbClr val="52606D"/>
                </a:solidFill>
              </a:defRPr>
            </a:lvl6pPr>
            <a:lvl7pPr>
              <a:defRPr sz="1200" b="1">
                <a:solidFill>
                  <a:srgbClr val="52606D"/>
                </a:solidFill>
              </a:defRPr>
            </a:lvl7pPr>
            <a:lvl8pPr>
              <a:defRPr sz="1200" b="1">
                <a:solidFill>
                  <a:srgbClr val="52606D"/>
                </a:solidFill>
              </a:defRPr>
            </a:lvl8pPr>
            <a:lvl9pPr>
              <a:defRPr sz="1200" b="1">
                <a:solidFill>
                  <a:srgbClr val="52606D"/>
                </a:solidFill>
              </a:defRPr>
            </a:lvl9pPr>
          </a:lstStyle>
          <a:p>
            <a:pPr>
              <a:defRPr sz="1200" b="1">
                <a:solidFill>
                  <a:srgbClr val="52606D"/>
                </a:solidFill>
              </a:defRPr>
            </a:pPr>
            <a:r>
              <a:rPr sz="1200" b="1">
                <a:solidFill>
                  <a:srgbClr val="52606D"/>
                </a:solidFill>
              </a:rPr>
              <a:t>阈值在测试金标准形成前登记，当前不虚构准确率或成本门槛。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B2180F5-4A54-4733-829F-1572CF066C3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C0E40E5-DEAB-40B5-B587-E70923006EA9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514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3090DFF-FB34-4B32-8767-1BA5915EBD2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1">
                <a:solidFill>
                  <a:srgbClr val="0F6B78"/>
                </a:solidFill>
              </a:defRPr>
            </a:defPPr>
            <a:lvl1pPr>
              <a:defRPr sz="900" b="1">
                <a:solidFill>
                  <a:srgbClr val="0F6B78"/>
                </a:solidFill>
              </a:defRPr>
            </a:lvl1pPr>
            <a:lvl2pPr>
              <a:defRPr sz="900" b="1">
                <a:solidFill>
                  <a:srgbClr val="0F6B78"/>
                </a:solidFill>
              </a:defRPr>
            </a:lvl2pPr>
            <a:lvl3pPr>
              <a:defRPr sz="900" b="1">
                <a:solidFill>
                  <a:srgbClr val="0F6B78"/>
                </a:solidFill>
              </a:defRPr>
            </a:lvl3pPr>
            <a:lvl4pPr>
              <a:defRPr sz="900" b="1">
                <a:solidFill>
                  <a:srgbClr val="0F6B78"/>
                </a:solidFill>
              </a:defRPr>
            </a:lvl4pPr>
            <a:lvl5pPr>
              <a:defRPr sz="900" b="1">
                <a:solidFill>
                  <a:srgbClr val="0F6B78"/>
                </a:solidFill>
              </a:defRPr>
            </a:lvl5pPr>
            <a:lvl6pPr>
              <a:defRPr sz="900" b="1">
                <a:solidFill>
                  <a:srgbClr val="0F6B78"/>
                </a:solidFill>
              </a:defRPr>
            </a:lvl6pPr>
            <a:lvl7pPr>
              <a:defRPr sz="900" b="1">
                <a:solidFill>
                  <a:srgbClr val="0F6B78"/>
                </a:solidFill>
              </a:defRPr>
            </a:lvl7pPr>
            <a:lvl8pPr>
              <a:defRPr sz="900" b="1">
                <a:solidFill>
                  <a:srgbClr val="0F6B78"/>
                </a:solidFill>
              </a:defRPr>
            </a:lvl8pPr>
            <a:lvl9pPr>
              <a:defRPr sz="900" b="1">
                <a:solidFill>
                  <a:srgbClr val="0F6B78"/>
                </a:solidFill>
              </a:defRPr>
            </a:lvl9pPr>
          </a:lstStyle>
          <a:p>
            <a:pPr>
              <a:defRPr sz="900" b="1">
                <a:solidFill>
                  <a:srgbClr val="0F6B78"/>
                </a:solidFill>
              </a:defRPr>
            </a:pPr>
            <a:r>
              <a:rPr sz="900" b="1">
                <a:solidFill>
                  <a:srgbClr val="0F6B78"/>
                </a:solidFill>
              </a:rPr>
              <a:t>10  评测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21DAB7-601D-4DC7-9059-5A188065B893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1076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1">
                <a:solidFill>
                  <a:srgbClr val="102A43"/>
                </a:solidFill>
              </a:defRPr>
            </a:defPPr>
            <a:lvl1pPr>
              <a:defRPr sz="2250" b="1">
                <a:solidFill>
                  <a:srgbClr val="102A43"/>
                </a:solidFill>
              </a:defRPr>
            </a:lvl1pPr>
            <a:lvl2pPr>
              <a:defRPr sz="2250" b="1">
                <a:solidFill>
                  <a:srgbClr val="102A43"/>
                </a:solidFill>
              </a:defRPr>
            </a:lvl2pPr>
            <a:lvl3pPr>
              <a:defRPr sz="2250" b="1">
                <a:solidFill>
                  <a:srgbClr val="102A43"/>
                </a:solidFill>
              </a:defRPr>
            </a:lvl3pPr>
            <a:lvl4pPr>
              <a:defRPr sz="2250" b="1">
                <a:solidFill>
                  <a:srgbClr val="102A43"/>
                </a:solidFill>
              </a:defRPr>
            </a:lvl4pPr>
            <a:lvl5pPr>
              <a:defRPr sz="2250" b="1">
                <a:solidFill>
                  <a:srgbClr val="102A43"/>
                </a:solidFill>
              </a:defRPr>
            </a:lvl5pPr>
            <a:lvl6pPr>
              <a:defRPr sz="2250" b="1">
                <a:solidFill>
                  <a:srgbClr val="102A43"/>
                </a:solidFill>
              </a:defRPr>
            </a:lvl6pPr>
            <a:lvl7pPr>
              <a:defRPr sz="2250" b="1">
                <a:solidFill>
                  <a:srgbClr val="102A43"/>
                </a:solidFill>
              </a:defRPr>
            </a:lvl7pPr>
            <a:lvl8pPr>
              <a:defRPr sz="2250" b="1">
                <a:solidFill>
                  <a:srgbClr val="102A43"/>
                </a:solidFill>
              </a:defRPr>
            </a:lvl8pPr>
            <a:lvl9pPr>
              <a:defRPr sz="2250" b="1">
                <a:solidFill>
                  <a:srgbClr val="102A43"/>
                </a:solidFill>
              </a:defRPr>
            </a:lvl9pPr>
          </a:lstStyle>
          <a:p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准确性、证据和复现必须分开报告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D618BE-2CF9-49D2-A34A-739BFDFBC774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076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>
                <a:solidFill>
                  <a:srgbClr val="52606D"/>
                </a:solidFill>
              </a:defRPr>
            </a:defPPr>
            <a:lvl1pPr>
              <a:defRPr sz="1125">
                <a:solidFill>
                  <a:srgbClr val="52606D"/>
                </a:solidFill>
              </a:defRPr>
            </a:lvl1pPr>
            <a:lvl2pPr>
              <a:defRPr sz="1125">
                <a:solidFill>
                  <a:srgbClr val="52606D"/>
                </a:solidFill>
              </a:defRPr>
            </a:lvl2pPr>
            <a:lvl3pPr>
              <a:defRPr sz="1125">
                <a:solidFill>
                  <a:srgbClr val="52606D"/>
                </a:solidFill>
              </a:defRPr>
            </a:lvl3pPr>
            <a:lvl4pPr>
              <a:defRPr sz="1125">
                <a:solidFill>
                  <a:srgbClr val="52606D"/>
                </a:solidFill>
              </a:defRPr>
            </a:lvl4pPr>
            <a:lvl5pPr>
              <a:defRPr sz="1125">
                <a:solidFill>
                  <a:srgbClr val="52606D"/>
                </a:solidFill>
              </a:defRPr>
            </a:lvl5pPr>
            <a:lvl6pPr>
              <a:defRPr sz="1125">
                <a:solidFill>
                  <a:srgbClr val="52606D"/>
                </a:solidFill>
              </a:defRPr>
            </a:lvl6pPr>
            <a:lvl7pPr>
              <a:defRPr sz="1125">
                <a:solidFill>
                  <a:srgbClr val="52606D"/>
                </a:solidFill>
              </a:defRPr>
            </a:lvl7pPr>
            <a:lvl8pPr>
              <a:defRPr sz="1125">
                <a:solidFill>
                  <a:srgbClr val="52606D"/>
                </a:solidFill>
              </a:defRPr>
            </a:lvl8pPr>
            <a:lvl9pPr>
              <a:defRPr sz="1125">
                <a:solidFill>
                  <a:srgbClr val="52606D"/>
                </a:solidFill>
              </a:defRPr>
            </a:lvl9pPr>
          </a:lstStyle>
          <a:p>
            <a:pPr>
              <a:defRPr sz="1125">
                <a:solidFill>
                  <a:srgbClr val="52606D"/>
                </a:solidFill>
              </a:defRPr>
            </a:pPr>
            <a:r>
              <a:rPr sz="1125">
                <a:solidFill>
                  <a:srgbClr val="52606D"/>
                </a:solidFill>
              </a:rPr>
              <a:t>冻结输入的确定性回放与外部模型重新调用是两种不同验证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4CCED6F-CD7D-490C-B7D8-313C3D544B2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5F8FA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00A2FF-5FF7-4F9D-9BFD-890A22EF4E59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66675" cy="2952750"/>
          </a:xfrm>
          <a:prstGeom prst="rect">
            <a:avLst/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AA761C-93D3-49BC-9175-B34D292C06AB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4610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六类评测维度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A281E8-8345-488B-8A95-7CFE5D448C45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4610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文档提取：exact match、行列/单位/期间、来源定位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财务计算：公式偏差、应拒算案例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证据使用：引用支持率、未支持断言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异常识别：精确率、召回率、误报类型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可复现性：回放通过率、日志完整率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自动校验：误放率、误拒率、规则修正率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214BE91-91EC-45DE-8B24-218F31950F01}"/>
              </a:ext>
            </a:extLst>
          </p:cNvPr>
          <p:cNvSpPr>
            <a:spLocks noGrp="1"/>
          </p:cNvSpPr>
          <p:nvPr/>
        </p:nvSpPr>
        <p:spPr>
          <a:xfrm>
            <a:off x="6057900" y="1809750"/>
            <a:ext cx="4953000" cy="2952750"/>
          </a:xfrm>
          <a:prstGeom prst="roundRect">
            <a:avLst>
              <a:gd name="adj" fmla="val 2581"/>
            </a:avLst>
          </a:prstGeom>
          <a:solidFill>
            <a:srgbClr val="F2F7F5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EBB05C-4F9D-46DB-9353-9FE76A5D2CD0}"/>
              </a:ext>
            </a:extLst>
          </p:cNvPr>
          <p:cNvSpPr>
            <a:spLocks noGrp="1"/>
          </p:cNvSpPr>
          <p:nvPr/>
        </p:nvSpPr>
        <p:spPr>
          <a:xfrm>
            <a:off x="6057900" y="1809750"/>
            <a:ext cx="66675" cy="2952750"/>
          </a:xfrm>
          <a:prstGeom prst="rect">
            <a:avLst/>
          </a:prstGeom>
          <a:solidFill>
            <a:srgbClr val="18794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70C4CC7-6F35-4928-B9D5-DC452E23DE32}"/>
              </a:ext>
            </a:extLst>
          </p:cNvPr>
          <p:cNvSpPr>
            <a:spLocks noGrp="1"/>
          </p:cNvSpPr>
          <p:nvPr/>
        </p:nvSpPr>
        <p:spPr>
          <a:xfrm>
            <a:off x="6248400" y="1962150"/>
            <a:ext cx="4610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102A43"/>
                </a:solidFill>
              </a:defRPr>
            </a:defPPr>
            <a:lvl1pPr>
              <a:defRPr sz="1350" b="1">
                <a:solidFill>
                  <a:srgbClr val="102A43"/>
                </a:solidFill>
              </a:defRPr>
            </a:lvl1pPr>
            <a:lvl2pPr>
              <a:defRPr sz="1350" b="1">
                <a:solidFill>
                  <a:srgbClr val="102A43"/>
                </a:solidFill>
              </a:defRPr>
            </a:lvl2pPr>
            <a:lvl3pPr>
              <a:defRPr sz="1350" b="1">
                <a:solidFill>
                  <a:srgbClr val="102A43"/>
                </a:solidFill>
              </a:defRPr>
            </a:lvl3pPr>
            <a:lvl4pPr>
              <a:defRPr sz="1350" b="1">
                <a:solidFill>
                  <a:srgbClr val="102A43"/>
                </a:solidFill>
              </a:defRPr>
            </a:lvl4pPr>
            <a:lvl5pPr>
              <a:defRPr sz="1350" b="1">
                <a:solidFill>
                  <a:srgbClr val="102A43"/>
                </a:solidFill>
              </a:defRPr>
            </a:lvl5pPr>
            <a:lvl6pPr>
              <a:defRPr sz="1350" b="1">
                <a:solidFill>
                  <a:srgbClr val="102A43"/>
                </a:solidFill>
              </a:defRPr>
            </a:lvl6pPr>
            <a:lvl7pPr>
              <a:defRPr sz="1350" b="1">
                <a:solidFill>
                  <a:srgbClr val="102A43"/>
                </a:solidFill>
              </a:defRPr>
            </a:lvl7pPr>
            <a:lvl8pPr>
              <a:defRPr sz="1350" b="1">
                <a:solidFill>
                  <a:srgbClr val="102A43"/>
                </a:solidFill>
              </a:defRPr>
            </a:lvl8pPr>
            <a:lvl9pPr>
              <a:defRPr sz="1350" b="1">
                <a:solidFill>
                  <a:srgbClr val="102A43"/>
                </a:solidFill>
              </a:defRPr>
            </a:lvl9pPr>
          </a:lstStyle>
          <a:p>
            <a:pPr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复现包内容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77983D-1D1E-491C-8CD9-F909D1C108E8}"/>
              </a:ext>
            </a:extLst>
          </p:cNvPr>
          <p:cNvSpPr>
            <a:spLocks noGrp="1"/>
          </p:cNvSpPr>
          <p:nvPr/>
        </p:nvSpPr>
        <p:spPr>
          <a:xfrm>
            <a:off x="6248400" y="2286000"/>
            <a:ext cx="4610100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52606D"/>
                </a:solidFill>
              </a:defRPr>
            </a:defPPr>
            <a:lvl1pPr>
              <a:defRPr sz="1050">
                <a:solidFill>
                  <a:srgbClr val="52606D"/>
                </a:solidFill>
              </a:defRPr>
            </a:lvl1pPr>
            <a:lvl2pPr>
              <a:defRPr sz="1050">
                <a:solidFill>
                  <a:srgbClr val="52606D"/>
                </a:solidFill>
              </a:defRPr>
            </a:lvl2pPr>
            <a:lvl3pPr>
              <a:defRPr sz="1050">
                <a:solidFill>
                  <a:srgbClr val="52606D"/>
                </a:solidFill>
              </a:defRPr>
            </a:lvl3pPr>
            <a:lvl4pPr>
              <a:defRPr sz="1050">
                <a:solidFill>
                  <a:srgbClr val="52606D"/>
                </a:solidFill>
              </a:defRPr>
            </a:lvl4pPr>
            <a:lvl5pPr>
              <a:defRPr sz="1050">
                <a:solidFill>
                  <a:srgbClr val="52606D"/>
                </a:solidFill>
              </a:defRPr>
            </a:lvl5pPr>
            <a:lvl6pPr>
              <a:defRPr sz="1050">
                <a:solidFill>
                  <a:srgbClr val="52606D"/>
                </a:solidFill>
              </a:defRPr>
            </a:lvl6pPr>
            <a:lvl7pPr>
              <a:defRPr sz="1050">
                <a:solidFill>
                  <a:srgbClr val="52606D"/>
                </a:solidFill>
              </a:defRPr>
            </a:lvl7pPr>
            <a:lvl8pPr>
              <a:defRPr sz="1050">
                <a:solidFill>
                  <a:srgbClr val="52606D"/>
                </a:solidFill>
              </a:defRPr>
            </a:lvl8pPr>
            <a:lvl9pPr>
              <a:defRPr sz="1050">
                <a:solidFill>
                  <a:srgbClr val="52606D"/>
                </a:solidFill>
              </a:defRPr>
            </a:lvl9pPr>
          </a:lstStyle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公开或脱敏样例与文件哈希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报告 ID、页码和提取路径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uv.lock 与服务版本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模型请求、响应和工具轨迹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结构化结果、校验日志和报告</a:t>
            </a:r>
          </a:p>
          <a:p>
            <a:pPr>
              <a:defRPr sz="1050">
                <a:solidFill>
                  <a:srgbClr val="52606D"/>
                </a:solidFill>
              </a:defRPr>
            </a:pPr>
            <a:r>
              <a:rPr sz="1050">
                <a:solidFill>
                  <a:srgbClr val="52606D"/>
                </a:solidFill>
              </a:rPr>
              <a:t>离线回放命令与失败原因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D3515E7-EC89-47AA-A204-6058F270A25E}"/>
              </a:ext>
            </a:extLst>
          </p:cNvPr>
          <p:cNvSpPr>
            <a:spLocks noGrp="1"/>
          </p:cNvSpPr>
          <p:nvPr/>
        </p:nvSpPr>
        <p:spPr>
          <a:xfrm>
            <a:off x="1543050" y="5219700"/>
            <a:ext cx="9105900" cy="590550"/>
          </a:xfrm>
          <a:prstGeom prst="roundRect">
            <a:avLst>
              <a:gd name="adj" fmla="val 12903"/>
            </a:avLst>
          </a:prstGeom>
          <a:solidFill>
            <a:srgbClr val="FFF4D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8660507-E96C-4E7B-A897-C9ABD38E5AC5}"/>
              </a:ext>
            </a:extLst>
          </p:cNvPr>
          <p:cNvSpPr>
            <a:spLocks noGrp="1"/>
          </p:cNvSpPr>
          <p:nvPr/>
        </p:nvSpPr>
        <p:spPr>
          <a:xfrm>
            <a:off x="1752600" y="5400675"/>
            <a:ext cx="868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1">
                <a:solidFill>
                  <a:srgbClr val="D97706"/>
                </a:solidFill>
              </a:defRPr>
            </a:defPPr>
            <a:lvl1pPr>
              <a:defRPr sz="1200" b="1">
                <a:solidFill>
                  <a:srgbClr val="D97706"/>
                </a:solidFill>
              </a:defRPr>
            </a:lvl1pPr>
            <a:lvl2pPr>
              <a:defRPr sz="1200" b="1">
                <a:solidFill>
                  <a:srgbClr val="D97706"/>
                </a:solidFill>
              </a:defRPr>
            </a:lvl2pPr>
            <a:lvl3pPr>
              <a:defRPr sz="1200" b="1">
                <a:solidFill>
                  <a:srgbClr val="D97706"/>
                </a:solidFill>
              </a:defRPr>
            </a:lvl3pPr>
            <a:lvl4pPr>
              <a:defRPr sz="1200" b="1">
                <a:solidFill>
                  <a:srgbClr val="D97706"/>
                </a:solidFill>
              </a:defRPr>
            </a:lvl4pPr>
            <a:lvl5pPr>
              <a:defRPr sz="1200" b="1">
                <a:solidFill>
                  <a:srgbClr val="D97706"/>
                </a:solidFill>
              </a:defRPr>
            </a:lvl5pPr>
            <a:lvl6pPr>
              <a:defRPr sz="1200" b="1">
                <a:solidFill>
                  <a:srgbClr val="D97706"/>
                </a:solidFill>
              </a:defRPr>
            </a:lvl6pPr>
            <a:lvl7pPr>
              <a:defRPr sz="1200" b="1">
                <a:solidFill>
                  <a:srgbClr val="D97706"/>
                </a:solidFill>
              </a:defRPr>
            </a:lvl7pPr>
            <a:lvl8pPr>
              <a:defRPr sz="1200" b="1">
                <a:solidFill>
                  <a:srgbClr val="D97706"/>
                </a:solidFill>
              </a:defRPr>
            </a:lvl8pPr>
            <a:lvl9pPr>
              <a:defRPr sz="1200" b="1">
                <a:solidFill>
                  <a:srgbClr val="D97706"/>
                </a:solidFill>
              </a:defRPr>
            </a:lvl9pPr>
          </a:lstStyle>
          <a:p>
            <a:pPr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离线回放可以证明保存输入和响应下的程序确定性，不等于外部模型每次生成相同文本。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F48212-C86F-46C6-8BFB-9651DAD9673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FinReport  |  研发项目计划书  |  2026-10-18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E773CE-CE18-439C-B29C-767F97D732EC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7B8794"/>
                </a:solidFill>
              </a:defRPr>
            </a:defPPr>
            <a:lvl1pPr>
              <a:defRPr sz="825">
                <a:solidFill>
                  <a:srgbClr val="7B8794"/>
                </a:solidFill>
              </a:defRPr>
            </a:lvl1pPr>
            <a:lvl2pPr>
              <a:defRPr sz="825">
                <a:solidFill>
                  <a:srgbClr val="7B8794"/>
                </a:solidFill>
              </a:defRPr>
            </a:lvl2pPr>
            <a:lvl3pPr>
              <a:defRPr sz="825">
                <a:solidFill>
                  <a:srgbClr val="7B8794"/>
                </a:solidFill>
              </a:defRPr>
            </a:lvl3pPr>
            <a:lvl4pPr>
              <a:defRPr sz="825">
                <a:solidFill>
                  <a:srgbClr val="7B8794"/>
                </a:solidFill>
              </a:defRPr>
            </a:lvl4pPr>
            <a:lvl5pPr>
              <a:defRPr sz="825">
                <a:solidFill>
                  <a:srgbClr val="7B8794"/>
                </a:solidFill>
              </a:defRPr>
            </a:lvl5pPr>
            <a:lvl6pPr>
              <a:defRPr sz="825">
                <a:solidFill>
                  <a:srgbClr val="7B8794"/>
                </a:solidFill>
              </a:defRPr>
            </a:lvl6pPr>
            <a:lvl7pPr>
              <a:defRPr sz="825">
                <a:solidFill>
                  <a:srgbClr val="7B8794"/>
                </a:solidFill>
              </a:defRPr>
            </a:lvl7pPr>
            <a:lvl8pPr>
              <a:defRPr sz="825">
                <a:solidFill>
                  <a:srgbClr val="7B8794"/>
                </a:solidFill>
              </a:defRPr>
            </a:lvl8pPr>
            <a:lvl9pPr>
              <a:defRPr sz="825">
                <a:solidFill>
                  <a:srgbClr val="7B8794"/>
                </a:solidFill>
              </a:defRPr>
            </a:lvl9pPr>
          </a:lstStyle>
          <a:p>
            <a:pPr>
              <a:defRPr sz="825">
                <a:solidFill>
                  <a:srgbClr val="7B8794"/>
                </a:solidFill>
              </a:defRPr>
            </a:pPr>
            <a:r>
              <a:rPr sz="825">
                <a:solidFill>
                  <a:srgbClr val="7B879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3200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E12CE5E-7DF6-4C29-A604-7816BCD9CF5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1">
                <a:solidFill>
                  <a:srgbClr val="9DE0DE"/>
                </a:solidFill>
              </a:defRPr>
            </a:defPPr>
            <a:lvl1pPr>
              <a:defRPr sz="1050" b="1">
                <a:solidFill>
                  <a:srgbClr val="9DE0DE"/>
                </a:solidFill>
              </a:defRPr>
            </a:lvl1pPr>
            <a:lvl2pPr>
              <a:defRPr sz="1050" b="1">
                <a:solidFill>
                  <a:srgbClr val="9DE0DE"/>
                </a:solidFill>
              </a:defRPr>
            </a:lvl2pPr>
            <a:lvl3pPr>
              <a:defRPr sz="1050" b="1">
                <a:solidFill>
                  <a:srgbClr val="9DE0DE"/>
                </a:solidFill>
              </a:defRPr>
            </a:lvl3pPr>
            <a:lvl4pPr>
              <a:defRPr sz="1050" b="1">
                <a:solidFill>
                  <a:srgbClr val="9DE0DE"/>
                </a:solidFill>
              </a:defRPr>
            </a:lvl4pPr>
            <a:lvl5pPr>
              <a:defRPr sz="1050" b="1">
                <a:solidFill>
                  <a:srgbClr val="9DE0DE"/>
                </a:solidFill>
              </a:defRPr>
            </a:lvl5pPr>
            <a:lvl6pPr>
              <a:defRPr sz="1050" b="1">
                <a:solidFill>
                  <a:srgbClr val="9DE0DE"/>
                </a:solidFill>
              </a:defRPr>
            </a:lvl6pPr>
            <a:lvl7pPr>
              <a:defRPr sz="1050" b="1">
                <a:solidFill>
                  <a:srgbClr val="9DE0DE"/>
                </a:solidFill>
              </a:defRPr>
            </a:lvl7pPr>
            <a:lvl8pPr>
              <a:defRPr sz="1050" b="1">
                <a:solidFill>
                  <a:srgbClr val="9DE0DE"/>
                </a:solidFill>
              </a:defRPr>
            </a:lvl8pPr>
            <a:lvl9pPr>
              <a:defRPr sz="1050" b="1">
                <a:solidFill>
                  <a:srgbClr val="9DE0DE"/>
                </a:solidFill>
              </a:defRPr>
            </a:lvl9pPr>
          </a:lstStyle>
          <a:p>
            <a:pPr>
              <a:defRPr sz="1050" b="1">
                <a:solidFill>
                  <a:srgbClr val="9DE0DE"/>
                </a:solidFill>
              </a:defRPr>
            </a:pPr>
            <a:r>
              <a:rPr sz="1050" b="1">
                <a:solidFill>
                  <a:srgbClr val="9DE0DE"/>
                </a:solidFill>
              </a:rPr>
              <a:t>11  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C520A9-CF85-4657-9AB0-661D136E2B01}"/>
              </a:ext>
            </a:extLst>
          </p:cNvPr>
          <p:cNvSpPr>
            <a:spLocks noGrp="1"/>
          </p:cNvSpPr>
          <p:nvPr/>
        </p:nvSpPr>
        <p:spPr>
          <a:xfrm>
            <a:off x="609600" y="11239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把财报分析变成可回查、可复算、可复现的研发流程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67755CB-1CAC-4D37-AD52-243F5BF60D96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1581150" cy="685800"/>
          </a:xfrm>
          <a:prstGeom prst="roundRect">
            <a:avLst>
              <a:gd name="adj" fmla="val 11111"/>
            </a:avLst>
          </a:prstGeom>
          <a:solidFill>
            <a:srgbClr val="0F6B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CA706A-0114-4318-AEAE-07F857371BD0}"/>
              </a:ext>
            </a:extLst>
          </p:cNvPr>
          <p:cNvSpPr>
            <a:spLocks noGrp="1"/>
          </p:cNvSpPr>
          <p:nvPr/>
        </p:nvSpPr>
        <p:spPr>
          <a:xfrm>
            <a:off x="914400" y="265747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可运行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0091F6-4FFC-4B7F-82B8-7B92CB6DB282}"/>
              </a:ext>
            </a:extLst>
          </p:cNvPr>
          <p:cNvSpPr>
            <a:spLocks noGrp="1"/>
          </p:cNvSpPr>
          <p:nvPr/>
        </p:nvSpPr>
        <p:spPr>
          <a:xfrm>
            <a:off x="2895600" y="2533650"/>
            <a:ext cx="771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>
                <a:solidFill>
                  <a:srgbClr val="D7E5EC"/>
                </a:solidFill>
              </a:defRPr>
            </a:defPPr>
            <a:lvl1pPr>
              <a:defRPr sz="1500">
                <a:solidFill>
                  <a:srgbClr val="D7E5EC"/>
                </a:solidFill>
              </a:defRPr>
            </a:lvl1pPr>
            <a:lvl2pPr>
              <a:defRPr sz="1500">
                <a:solidFill>
                  <a:srgbClr val="D7E5EC"/>
                </a:solidFill>
              </a:defRPr>
            </a:lvl2pPr>
            <a:lvl3pPr>
              <a:defRPr sz="1500">
                <a:solidFill>
                  <a:srgbClr val="D7E5EC"/>
                </a:solidFill>
              </a:defRPr>
            </a:lvl3pPr>
            <a:lvl4pPr>
              <a:defRPr sz="1500">
                <a:solidFill>
                  <a:srgbClr val="D7E5EC"/>
                </a:solidFill>
              </a:defRPr>
            </a:lvl4pPr>
            <a:lvl5pPr>
              <a:defRPr sz="1500">
                <a:solidFill>
                  <a:srgbClr val="D7E5EC"/>
                </a:solidFill>
              </a:defRPr>
            </a:lvl5pPr>
            <a:lvl6pPr>
              <a:defRPr sz="1500">
                <a:solidFill>
                  <a:srgbClr val="D7E5EC"/>
                </a:solidFill>
              </a:defRPr>
            </a:lvl6pPr>
            <a:lvl7pPr>
              <a:defRPr sz="1500">
                <a:solidFill>
                  <a:srgbClr val="D7E5EC"/>
                </a:solidFill>
              </a:defRPr>
            </a:lvl7pPr>
            <a:lvl8pPr>
              <a:defRPr sz="1500">
                <a:solidFill>
                  <a:srgbClr val="D7E5EC"/>
                </a:solidFill>
              </a:defRPr>
            </a:lvl8pPr>
            <a:lvl9pPr>
              <a:defRPr sz="1500">
                <a:solidFill>
                  <a:srgbClr val="D7E5EC"/>
                </a:solidFill>
              </a:defRPr>
            </a:lvl9pPr>
          </a:lstStyle>
          <a:p>
            <a:pPr>
              <a:defRPr sz="1500">
                <a:solidFill>
                  <a:srgbClr val="D7E5EC"/>
                </a:solidFill>
              </a:defRPr>
            </a:pPr>
            <a:r>
              <a:rPr sz="1500">
                <a:solidFill>
                  <a:srgbClr val="D7E5EC"/>
                </a:solidFill>
              </a:rPr>
              <a:t>导入、提取、计算、检索和报告已形成原型闭环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AEF13E2-3F00-4B9A-8A6F-EEFA0F252426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1581150" cy="685800"/>
          </a:xfrm>
          <a:prstGeom prst="roundRect">
            <a:avLst>
              <a:gd name="adj" fmla="val 11111"/>
            </a:avLst>
          </a:prstGeom>
          <a:solidFill>
            <a:srgbClr val="2344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F2260E-071D-4E61-8F12-0F4DF70B82EF}"/>
              </a:ext>
            </a:extLst>
          </p:cNvPr>
          <p:cNvSpPr>
            <a:spLocks noGrp="1"/>
          </p:cNvSpPr>
          <p:nvPr/>
        </p:nvSpPr>
        <p:spPr>
          <a:xfrm>
            <a:off x="914400" y="372427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有边界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4CD233A-DF71-4839-823F-A991F8B30CAF}"/>
              </a:ext>
            </a:extLst>
          </p:cNvPr>
          <p:cNvSpPr>
            <a:spLocks noGrp="1"/>
          </p:cNvSpPr>
          <p:nvPr/>
        </p:nvSpPr>
        <p:spPr>
          <a:xfrm>
            <a:off x="2895600" y="3600450"/>
            <a:ext cx="771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>
                <a:solidFill>
                  <a:srgbClr val="D7E5EC"/>
                </a:solidFill>
              </a:defRPr>
            </a:defPPr>
            <a:lvl1pPr>
              <a:defRPr sz="1500">
                <a:solidFill>
                  <a:srgbClr val="D7E5EC"/>
                </a:solidFill>
              </a:defRPr>
            </a:lvl1pPr>
            <a:lvl2pPr>
              <a:defRPr sz="1500">
                <a:solidFill>
                  <a:srgbClr val="D7E5EC"/>
                </a:solidFill>
              </a:defRPr>
            </a:lvl2pPr>
            <a:lvl3pPr>
              <a:defRPr sz="1500">
                <a:solidFill>
                  <a:srgbClr val="D7E5EC"/>
                </a:solidFill>
              </a:defRPr>
            </a:lvl3pPr>
            <a:lvl4pPr>
              <a:defRPr sz="1500">
                <a:solidFill>
                  <a:srgbClr val="D7E5EC"/>
                </a:solidFill>
              </a:defRPr>
            </a:lvl4pPr>
            <a:lvl5pPr>
              <a:defRPr sz="1500">
                <a:solidFill>
                  <a:srgbClr val="D7E5EC"/>
                </a:solidFill>
              </a:defRPr>
            </a:lvl5pPr>
            <a:lvl6pPr>
              <a:defRPr sz="1500">
                <a:solidFill>
                  <a:srgbClr val="D7E5EC"/>
                </a:solidFill>
              </a:defRPr>
            </a:lvl6pPr>
            <a:lvl7pPr>
              <a:defRPr sz="1500">
                <a:solidFill>
                  <a:srgbClr val="D7E5EC"/>
                </a:solidFill>
              </a:defRPr>
            </a:lvl7pPr>
            <a:lvl8pPr>
              <a:defRPr sz="1500">
                <a:solidFill>
                  <a:srgbClr val="D7E5EC"/>
                </a:solidFill>
              </a:defRPr>
            </a:lvl8pPr>
            <a:lvl9pPr>
              <a:defRPr sz="1500">
                <a:solidFill>
                  <a:srgbClr val="D7E5EC"/>
                </a:solidFill>
              </a:defRPr>
            </a:lvl9pPr>
          </a:lstStyle>
          <a:p>
            <a:pPr>
              <a:defRPr sz="1500">
                <a:solidFill>
                  <a:srgbClr val="D7E5EC"/>
                </a:solidFill>
              </a:defRPr>
            </a:pPr>
            <a:r>
              <a:rPr sz="1500">
                <a:solidFill>
                  <a:srgbClr val="D7E5EC"/>
                </a:solidFill>
              </a:rPr>
              <a:t>受限样本验证保留证据不足，不冒充全文或多发行人验收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0502DF-3CDF-4971-9B91-BAD77AF2CEF3}"/>
              </a:ext>
            </a:extLst>
          </p:cNvPr>
          <p:cNvSpPr>
            <a:spLocks noGrp="1"/>
          </p:cNvSpPr>
          <p:nvPr/>
        </p:nvSpPr>
        <p:spPr>
          <a:xfrm>
            <a:off x="914400" y="4591050"/>
            <a:ext cx="1581150" cy="685800"/>
          </a:xfrm>
          <a:prstGeom prst="roundRect">
            <a:avLst>
              <a:gd name="adj" fmla="val 11111"/>
            </a:avLst>
          </a:prstGeom>
          <a:solidFill>
            <a:srgbClr val="23445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D3208F7-7FB2-4AB4-B7FF-E264CD6464D3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可推进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1CA969-7BC9-414B-BA4A-C1E7517BFB2A}"/>
              </a:ext>
            </a:extLst>
          </p:cNvPr>
          <p:cNvSpPr>
            <a:spLocks noGrp="1"/>
          </p:cNvSpPr>
          <p:nvPr/>
        </p:nvSpPr>
        <p:spPr>
          <a:xfrm>
            <a:off x="2895600" y="4667250"/>
            <a:ext cx="771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>
                <a:solidFill>
                  <a:srgbClr val="D7E5EC"/>
                </a:solidFill>
              </a:defRPr>
            </a:defPPr>
            <a:lvl1pPr>
              <a:defRPr sz="1500">
                <a:solidFill>
                  <a:srgbClr val="D7E5EC"/>
                </a:solidFill>
              </a:defRPr>
            </a:lvl1pPr>
            <a:lvl2pPr>
              <a:defRPr sz="1500">
                <a:solidFill>
                  <a:srgbClr val="D7E5EC"/>
                </a:solidFill>
              </a:defRPr>
            </a:lvl2pPr>
            <a:lvl3pPr>
              <a:defRPr sz="1500">
                <a:solidFill>
                  <a:srgbClr val="D7E5EC"/>
                </a:solidFill>
              </a:defRPr>
            </a:lvl3pPr>
            <a:lvl4pPr>
              <a:defRPr sz="1500">
                <a:solidFill>
                  <a:srgbClr val="D7E5EC"/>
                </a:solidFill>
              </a:defRPr>
            </a:lvl4pPr>
            <a:lvl5pPr>
              <a:defRPr sz="1500">
                <a:solidFill>
                  <a:srgbClr val="D7E5EC"/>
                </a:solidFill>
              </a:defRPr>
            </a:lvl5pPr>
            <a:lvl6pPr>
              <a:defRPr sz="1500">
                <a:solidFill>
                  <a:srgbClr val="D7E5EC"/>
                </a:solidFill>
              </a:defRPr>
            </a:lvl6pPr>
            <a:lvl7pPr>
              <a:defRPr sz="1500">
                <a:solidFill>
                  <a:srgbClr val="D7E5EC"/>
                </a:solidFill>
              </a:defRPr>
            </a:lvl7pPr>
            <a:lvl8pPr>
              <a:defRPr sz="1500">
                <a:solidFill>
                  <a:srgbClr val="D7E5EC"/>
                </a:solidFill>
              </a:defRPr>
            </a:lvl8pPr>
            <a:lvl9pPr>
              <a:defRPr sz="1500">
                <a:solidFill>
                  <a:srgbClr val="D7E5EC"/>
                </a:solidFill>
              </a:defRPr>
            </a:lvl9pPr>
          </a:lstStyle>
          <a:p>
            <a:pPr>
              <a:defRPr sz="1500">
                <a:solidFill>
                  <a:srgbClr val="D7E5EC"/>
                </a:solidFill>
              </a:defRPr>
            </a:pPr>
            <a:r>
              <a:rPr sz="1500">
                <a:solidFill>
                  <a:srgbClr val="D7E5EC"/>
                </a:solidFill>
              </a:rPr>
              <a:t>按 G1-G7 补齐全文、多发行人、金标准评估和演示复现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74C7D8-7EC8-4BC2-ADEE-7901E201B57A}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9DE0DE"/>
                </a:solidFill>
              </a:defRPr>
            </a:defPPr>
            <a:lvl1pPr>
              <a:defRPr sz="1275" b="1">
                <a:solidFill>
                  <a:srgbClr val="9DE0DE"/>
                </a:solidFill>
              </a:defRPr>
            </a:lvl1pPr>
            <a:lvl2pPr>
              <a:defRPr sz="1275" b="1">
                <a:solidFill>
                  <a:srgbClr val="9DE0DE"/>
                </a:solidFill>
              </a:defRPr>
            </a:lvl2pPr>
            <a:lvl3pPr>
              <a:defRPr sz="1275" b="1">
                <a:solidFill>
                  <a:srgbClr val="9DE0DE"/>
                </a:solidFill>
              </a:defRPr>
            </a:lvl3pPr>
            <a:lvl4pPr>
              <a:defRPr sz="1275" b="1">
                <a:solidFill>
                  <a:srgbClr val="9DE0DE"/>
                </a:solidFill>
              </a:defRPr>
            </a:lvl4pPr>
            <a:lvl5pPr>
              <a:defRPr sz="1275" b="1">
                <a:solidFill>
                  <a:srgbClr val="9DE0DE"/>
                </a:solidFill>
              </a:defRPr>
            </a:lvl5pPr>
            <a:lvl6pPr>
              <a:defRPr sz="1275" b="1">
                <a:solidFill>
                  <a:srgbClr val="9DE0DE"/>
                </a:solidFill>
              </a:defRPr>
            </a:lvl6pPr>
            <a:lvl7pPr>
              <a:defRPr sz="1275" b="1">
                <a:solidFill>
                  <a:srgbClr val="9DE0DE"/>
                </a:solidFill>
              </a:defRPr>
            </a:lvl7pPr>
            <a:lvl8pPr>
              <a:defRPr sz="1275" b="1">
                <a:solidFill>
                  <a:srgbClr val="9DE0DE"/>
                </a:solidFill>
              </a:defRPr>
            </a:lvl8pPr>
            <a:lvl9pPr>
              <a:defRPr sz="1275" b="1">
                <a:solidFill>
                  <a:srgbClr val="9DE0DE"/>
                </a:solidFill>
              </a:defRPr>
            </a:lvl9pPr>
          </a:lstStyle>
          <a:p>
            <a:pPr>
              <a:defRPr sz="1275" b="1">
                <a:solidFill>
                  <a:srgbClr val="9DE0DE"/>
                </a:solidFill>
              </a:defRPr>
            </a:pPr>
            <a:r>
              <a:rPr sz="1275" b="1">
                <a:solidFill>
                  <a:srgbClr val="9DE0DE"/>
                </a:solidFill>
              </a:rPr>
              <a:t>FinReport：让结论回到原文，让不确定性留在结果里。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1B4ABE-E3CE-4E80-AC03-00A9493E34A7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B7C9D6"/>
                </a:solidFill>
              </a:defRPr>
            </a:defPPr>
            <a:lvl1pPr>
              <a:defRPr sz="825">
                <a:solidFill>
                  <a:srgbClr val="B7C9D6"/>
                </a:solidFill>
              </a:defRPr>
            </a:lvl1pPr>
            <a:lvl2pPr>
              <a:defRPr sz="825">
                <a:solidFill>
                  <a:srgbClr val="B7C9D6"/>
                </a:solidFill>
              </a:defRPr>
            </a:lvl2pPr>
            <a:lvl3pPr>
              <a:defRPr sz="825">
                <a:solidFill>
                  <a:srgbClr val="B7C9D6"/>
                </a:solidFill>
              </a:defRPr>
            </a:lvl3pPr>
            <a:lvl4pPr>
              <a:defRPr sz="825">
                <a:solidFill>
                  <a:srgbClr val="B7C9D6"/>
                </a:solidFill>
              </a:defRPr>
            </a:lvl4pPr>
            <a:lvl5pPr>
              <a:defRPr sz="825">
                <a:solidFill>
                  <a:srgbClr val="B7C9D6"/>
                </a:solidFill>
              </a:defRPr>
            </a:lvl5pPr>
            <a:lvl6pPr>
              <a:defRPr sz="825">
                <a:solidFill>
                  <a:srgbClr val="B7C9D6"/>
                </a:solidFill>
              </a:defRPr>
            </a:lvl6pPr>
            <a:lvl7pPr>
              <a:defRPr sz="825">
                <a:solidFill>
                  <a:srgbClr val="B7C9D6"/>
                </a:solidFill>
              </a:defRPr>
            </a:lvl7pPr>
            <a:lvl8pPr>
              <a:defRPr sz="825">
                <a:solidFill>
                  <a:srgbClr val="B7C9D6"/>
                </a:solidFill>
              </a:defRPr>
            </a:lvl8pPr>
            <a:lvl9pPr>
              <a:defRPr sz="825">
                <a:solidFill>
                  <a:srgbClr val="B7C9D6"/>
                </a:solidFill>
              </a:defRPr>
            </a:lvl9pPr>
          </a:lstStyle>
          <a:p>
            <a:pPr>
              <a:defRPr sz="825">
                <a:solidFill>
                  <a:srgbClr val="B7C9D6"/>
                </a:solidFill>
              </a:defRPr>
            </a:pPr>
            <a:r>
              <a:rPr sz="825">
                <a:solidFill>
                  <a:srgbClr val="B7C9D6"/>
                </a:solidFill>
              </a:rPr>
              <a:t>FinReport  |  研发项目计划书  |  2026-10-18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212F72-9BEB-41D1-A1FF-0323741D70EE}"/>
              </a:ext>
            </a:extLst>
          </p:cNvPr>
          <p:cNvSpPr>
            <a:spLocks noGrp="1"/>
          </p:cNvSpPr>
          <p:nvPr/>
        </p:nvSpPr>
        <p:spPr>
          <a:xfrm>
            <a:off x="11239500" y="65151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825">
                <a:solidFill>
                  <a:srgbClr val="B7C9D6"/>
                </a:solidFill>
              </a:defRPr>
            </a:defPPr>
            <a:lvl1pPr>
              <a:defRPr sz="825">
                <a:solidFill>
                  <a:srgbClr val="B7C9D6"/>
                </a:solidFill>
              </a:defRPr>
            </a:lvl1pPr>
            <a:lvl2pPr>
              <a:defRPr sz="825">
                <a:solidFill>
                  <a:srgbClr val="B7C9D6"/>
                </a:solidFill>
              </a:defRPr>
            </a:lvl2pPr>
            <a:lvl3pPr>
              <a:defRPr sz="825">
                <a:solidFill>
                  <a:srgbClr val="B7C9D6"/>
                </a:solidFill>
              </a:defRPr>
            </a:lvl3pPr>
            <a:lvl4pPr>
              <a:defRPr sz="825">
                <a:solidFill>
                  <a:srgbClr val="B7C9D6"/>
                </a:solidFill>
              </a:defRPr>
            </a:lvl4pPr>
            <a:lvl5pPr>
              <a:defRPr sz="825">
                <a:solidFill>
                  <a:srgbClr val="B7C9D6"/>
                </a:solidFill>
              </a:defRPr>
            </a:lvl5pPr>
            <a:lvl6pPr>
              <a:defRPr sz="825">
                <a:solidFill>
                  <a:srgbClr val="B7C9D6"/>
                </a:solidFill>
              </a:defRPr>
            </a:lvl6pPr>
            <a:lvl7pPr>
              <a:defRPr sz="825">
                <a:solidFill>
                  <a:srgbClr val="B7C9D6"/>
                </a:solidFill>
              </a:defRPr>
            </a:lvl7pPr>
            <a:lvl8pPr>
              <a:defRPr sz="825">
                <a:solidFill>
                  <a:srgbClr val="B7C9D6"/>
                </a:solidFill>
              </a:defRPr>
            </a:lvl8pPr>
            <a:lvl9pPr>
              <a:defRPr sz="825">
                <a:solidFill>
                  <a:srgbClr val="B7C9D6"/>
                </a:solidFill>
              </a:defRPr>
            </a:lvl9pPr>
          </a:lstStyle>
          <a:p>
            <a:pPr>
              <a:defRPr sz="825">
                <a:solidFill>
                  <a:srgbClr val="B7C9D6"/>
                </a:solidFill>
              </a:defRPr>
            </a:pPr>
            <a:r>
              <a:rPr sz="825">
                <a:solidFill>
                  <a:srgbClr val="B7C9D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3172508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Office PowerPoint</Application>
  <DocSecurity>0</DocSecurity>
  <PresentationFormat>宽屏</PresentationFormat>
  <Paragraphs>232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ghjcfrt</cp:lastModifiedBy>
  <cp:revision>1</cp:revision>
  <dcterms:created xsi:type="dcterms:W3CDTF">2026-10-18T13:31:42Z</dcterms:created>
  <dcterms:modified xsi:type="dcterms:W3CDTF">2026-10-18T13:40:28Z</dcterms:modified>
</cp:coreProperties>
</file>